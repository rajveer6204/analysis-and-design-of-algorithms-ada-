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theme/theme4.xml" ContentType="application/vnd.openxmlformats-officedocument.theme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5.xml" ContentType="application/vnd.openxmlformats-officedocument.theme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theme/theme6.xml" ContentType="application/vnd.openxmlformats-officedocument.theme+xml"/>
  <Override PartName="/ppt/slideLayouts/slideLayout76.xml" ContentType="application/vnd.openxmlformats-officedocument.presentationml.slideLayout+xml"/>
  <Override PartName="/ppt/theme/theme7.xml" ContentType="application/vnd.openxmlformats-officedocument.theme+xml"/>
  <Override PartName="/ppt/slideLayouts/slideLayout77.xml" ContentType="application/vnd.openxmlformats-officedocument.presentationml.slideLayout+xml"/>
  <Override PartName="/ppt/theme/theme8.xml" ContentType="application/vnd.openxmlformats-officedocument.them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4"/>
    <p:sldMasterId id="2147483701" r:id="rId5"/>
    <p:sldMasterId id="2147483673" r:id="rId6"/>
    <p:sldMasterId id="2147483719" r:id="rId7"/>
    <p:sldMasterId id="2147483731" r:id="rId8"/>
    <p:sldMasterId id="2147483661" r:id="rId9"/>
    <p:sldMasterId id="2147483745" r:id="rId10"/>
    <p:sldMasterId id="2147483748" r:id="rId11"/>
    <p:sldMasterId id="2147483750" r:id="rId12"/>
  </p:sldMasterIdLst>
  <p:notesMasterIdLst>
    <p:notesMasterId r:id="rId44"/>
  </p:notesMasterIdLst>
  <p:handoutMasterIdLst>
    <p:handoutMasterId r:id="rId45"/>
  </p:handoutMasterIdLst>
  <p:sldIdLst>
    <p:sldId id="256" r:id="rId13"/>
    <p:sldId id="716" r:id="rId14"/>
    <p:sldId id="923" r:id="rId15"/>
    <p:sldId id="924" r:id="rId16"/>
    <p:sldId id="258" r:id="rId17"/>
    <p:sldId id="278" r:id="rId18"/>
    <p:sldId id="944" r:id="rId19"/>
    <p:sldId id="926" r:id="rId20"/>
    <p:sldId id="927" r:id="rId21"/>
    <p:sldId id="928" r:id="rId22"/>
    <p:sldId id="929" r:id="rId23"/>
    <p:sldId id="931" r:id="rId24"/>
    <p:sldId id="932" r:id="rId25"/>
    <p:sldId id="930" r:id="rId26"/>
    <p:sldId id="933" r:id="rId27"/>
    <p:sldId id="277" r:id="rId28"/>
    <p:sldId id="936" r:id="rId29"/>
    <p:sldId id="935" r:id="rId30"/>
    <p:sldId id="937" r:id="rId31"/>
    <p:sldId id="934" r:id="rId32"/>
    <p:sldId id="938" r:id="rId33"/>
    <p:sldId id="939" r:id="rId34"/>
    <p:sldId id="940" r:id="rId35"/>
    <p:sldId id="941" r:id="rId36"/>
    <p:sldId id="290" r:id="rId37"/>
    <p:sldId id="942" r:id="rId38"/>
    <p:sldId id="943" r:id="rId39"/>
    <p:sldId id="296" r:id="rId40"/>
    <p:sldId id="945" r:id="rId41"/>
    <p:sldId id="921" r:id="rId42"/>
    <p:sldId id="271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295B941-996E-4046-B57E-9C445FCCDF1A}" v="17" dt="2026-01-11T16:54:41.9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110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1" d="100"/>
          <a:sy n="51" d="100"/>
        </p:scale>
        <p:origin x="1836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39" Type="http://schemas.openxmlformats.org/officeDocument/2006/relationships/slide" Target="slides/slide27.xml"/><Relationship Id="rId21" Type="http://schemas.openxmlformats.org/officeDocument/2006/relationships/slide" Target="slides/slide9.xml"/><Relationship Id="rId34" Type="http://schemas.openxmlformats.org/officeDocument/2006/relationships/slide" Target="slides/slide22.xml"/><Relationship Id="rId42" Type="http://schemas.openxmlformats.org/officeDocument/2006/relationships/slide" Target="slides/slide30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9" Type="http://schemas.openxmlformats.org/officeDocument/2006/relationships/slide" Target="slides/slide17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slide" Target="slides/slide20.xml"/><Relationship Id="rId37" Type="http://schemas.openxmlformats.org/officeDocument/2006/relationships/slide" Target="slides/slide25.xml"/><Relationship Id="rId40" Type="http://schemas.openxmlformats.org/officeDocument/2006/relationships/slide" Target="slides/slide28.xml"/><Relationship Id="rId45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slide" Target="slides/slide24.xml"/><Relationship Id="rId49" Type="http://schemas.openxmlformats.org/officeDocument/2006/relationships/tableStyles" Target="tableStyles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slide" Target="slides/slide19.xml"/><Relationship Id="rId44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slide" Target="slides/slide23.xml"/><Relationship Id="rId43" Type="http://schemas.openxmlformats.org/officeDocument/2006/relationships/slide" Target="slides/slide31.xml"/><Relationship Id="rId48" Type="http://schemas.openxmlformats.org/officeDocument/2006/relationships/theme" Target="theme/theme1.xml"/><Relationship Id="rId8" Type="http://schemas.openxmlformats.org/officeDocument/2006/relationships/slideMaster" Target="slideMasters/slideMaster5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slide" Target="slides/slide21.xml"/><Relationship Id="rId38" Type="http://schemas.openxmlformats.org/officeDocument/2006/relationships/slide" Target="slides/slide26.xml"/><Relationship Id="rId46" Type="http://schemas.openxmlformats.org/officeDocument/2006/relationships/presProps" Target="presProps.xml"/><Relationship Id="rId20" Type="http://schemas.openxmlformats.org/officeDocument/2006/relationships/slide" Target="slides/slide8.xml"/><Relationship Id="rId41" Type="http://schemas.openxmlformats.org/officeDocument/2006/relationships/slide" Target="slides/slide29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na Bajaj" userId="d171dd85e2b40418" providerId="LiveId" clId="{1E570A44-9CAE-45C8-8120-ADE3833C0EA5}"/>
    <pc:docChg chg="undo custSel addSld modSld">
      <pc:chgData name="Vandna Bajaj" userId="d171dd85e2b40418" providerId="LiveId" clId="{1E570A44-9CAE-45C8-8120-ADE3833C0EA5}" dt="2026-01-11T16:55:16.567" v="256" actId="5793"/>
      <pc:docMkLst>
        <pc:docMk/>
      </pc:docMkLst>
      <pc:sldChg chg="modSp mod">
        <pc:chgData name="Vandna Bajaj" userId="d171dd85e2b40418" providerId="LiveId" clId="{1E570A44-9CAE-45C8-8120-ADE3833C0EA5}" dt="2026-01-11T16:51:30.212" v="157" actId="113"/>
        <pc:sldMkLst>
          <pc:docMk/>
          <pc:sldMk cId="2832494999" sldId="296"/>
        </pc:sldMkLst>
        <pc:spChg chg="mod">
          <ac:chgData name="Vandna Bajaj" userId="d171dd85e2b40418" providerId="LiveId" clId="{1E570A44-9CAE-45C8-8120-ADE3833C0EA5}" dt="2026-01-11T16:51:30.212" v="157" actId="113"/>
          <ac:spMkLst>
            <pc:docMk/>
            <pc:sldMk cId="2832494999" sldId="296"/>
            <ac:spMk id="2" creationId="{618F3A0A-0EAA-79C4-FEF5-D1BE79E77413}"/>
          </ac:spMkLst>
        </pc:spChg>
        <pc:spChg chg="mod">
          <ac:chgData name="Vandna Bajaj" userId="d171dd85e2b40418" providerId="LiveId" clId="{1E570A44-9CAE-45C8-8120-ADE3833C0EA5}" dt="2026-01-11T16:51:24.281" v="155" actId="1076"/>
          <ac:spMkLst>
            <pc:docMk/>
            <pc:sldMk cId="2832494999" sldId="296"/>
            <ac:spMk id="4" creationId="{34E77709-FD52-C0E6-E309-CFBD1E6F66D1}"/>
          </ac:spMkLst>
        </pc:spChg>
      </pc:sldChg>
      <pc:sldChg chg="modSp mod">
        <pc:chgData name="Vandna Bajaj" userId="d171dd85e2b40418" providerId="LiveId" clId="{1E570A44-9CAE-45C8-8120-ADE3833C0EA5}" dt="2026-01-11T16:49:18.598" v="154" actId="20577"/>
        <pc:sldMkLst>
          <pc:docMk/>
          <pc:sldMk cId="3604831533" sldId="921"/>
        </pc:sldMkLst>
        <pc:spChg chg="mod">
          <ac:chgData name="Vandna Bajaj" userId="d171dd85e2b40418" providerId="LiveId" clId="{1E570A44-9CAE-45C8-8120-ADE3833C0EA5}" dt="2026-01-11T16:49:18.598" v="154" actId="20577"/>
          <ac:spMkLst>
            <pc:docMk/>
            <pc:sldMk cId="3604831533" sldId="921"/>
            <ac:spMk id="3" creationId="{69C61EE4-7BDC-8BB8-9B25-7D28DC66A2DD}"/>
          </ac:spMkLst>
        </pc:spChg>
      </pc:sldChg>
      <pc:sldChg chg="addSp delSp modSp new mod">
        <pc:chgData name="Vandna Bajaj" userId="d171dd85e2b40418" providerId="LiveId" clId="{1E570A44-9CAE-45C8-8120-ADE3833C0EA5}" dt="2026-01-11T16:48:21.591" v="37" actId="1076"/>
        <pc:sldMkLst>
          <pc:docMk/>
          <pc:sldMk cId="2462401385" sldId="944"/>
        </pc:sldMkLst>
        <pc:spChg chg="mod">
          <ac:chgData name="Vandna Bajaj" userId="d171dd85e2b40418" providerId="LiveId" clId="{1E570A44-9CAE-45C8-8120-ADE3833C0EA5}" dt="2026-01-11T16:45:45.854" v="33" actId="313"/>
          <ac:spMkLst>
            <pc:docMk/>
            <pc:sldMk cId="2462401385" sldId="944"/>
            <ac:spMk id="2" creationId="{3C6C3667-ECAB-74D6-F6C4-94749DF1F752}"/>
          </ac:spMkLst>
        </pc:spChg>
        <pc:spChg chg="del">
          <ac:chgData name="Vandna Bajaj" userId="d171dd85e2b40418" providerId="LiveId" clId="{1E570A44-9CAE-45C8-8120-ADE3833C0EA5}" dt="2026-01-11T16:48:05.555" v="34" actId="22"/>
          <ac:spMkLst>
            <pc:docMk/>
            <pc:sldMk cId="2462401385" sldId="944"/>
            <ac:spMk id="3" creationId="{BDDE00EC-9612-3609-BF63-448D4B0916CD}"/>
          </ac:spMkLst>
        </pc:spChg>
        <pc:spChg chg="mod">
          <ac:chgData name="Vandna Bajaj" userId="d171dd85e2b40418" providerId="LiveId" clId="{1E570A44-9CAE-45C8-8120-ADE3833C0EA5}" dt="2026-01-11T16:48:21.591" v="37" actId="1076"/>
          <ac:spMkLst>
            <pc:docMk/>
            <pc:sldMk cId="2462401385" sldId="944"/>
            <ac:spMk id="4" creationId="{43713CC6-6A24-2060-5D17-068A96A82F25}"/>
          </ac:spMkLst>
        </pc:spChg>
        <pc:picChg chg="add mod ord modCrop">
          <ac:chgData name="Vandna Bajaj" userId="d171dd85e2b40418" providerId="LiveId" clId="{1E570A44-9CAE-45C8-8120-ADE3833C0EA5}" dt="2026-01-11T16:48:19.151" v="36" actId="1076"/>
          <ac:picMkLst>
            <pc:docMk/>
            <pc:sldMk cId="2462401385" sldId="944"/>
            <ac:picMk id="6" creationId="{5A16F978-4989-B856-E800-45C75206B4A0}"/>
          </ac:picMkLst>
        </pc:picChg>
      </pc:sldChg>
      <pc:sldChg chg="addSp modSp add mod">
        <pc:chgData name="Vandna Bajaj" userId="d171dd85e2b40418" providerId="LiveId" clId="{1E570A44-9CAE-45C8-8120-ADE3833C0EA5}" dt="2026-01-11T16:55:16.567" v="256" actId="5793"/>
        <pc:sldMkLst>
          <pc:docMk/>
          <pc:sldMk cId="3856506729" sldId="945"/>
        </pc:sldMkLst>
        <pc:spChg chg="mod">
          <ac:chgData name="Vandna Bajaj" userId="d171dd85e2b40418" providerId="LiveId" clId="{1E570A44-9CAE-45C8-8120-ADE3833C0EA5}" dt="2026-01-11T16:51:47.944" v="168" actId="20577"/>
          <ac:spMkLst>
            <pc:docMk/>
            <pc:sldMk cId="3856506729" sldId="945"/>
            <ac:spMk id="2" creationId="{3F5DAD0D-0E6E-80EA-507B-E8300B17DC9A}"/>
          </ac:spMkLst>
        </pc:spChg>
        <pc:spChg chg="mod">
          <ac:chgData name="Vandna Bajaj" userId="d171dd85e2b40418" providerId="LiveId" clId="{1E570A44-9CAE-45C8-8120-ADE3833C0EA5}" dt="2026-01-11T16:55:16.567" v="256" actId="5793"/>
          <ac:spMkLst>
            <pc:docMk/>
            <pc:sldMk cId="3856506729" sldId="945"/>
            <ac:spMk id="3" creationId="{0EA92C13-0F71-B43F-BEDD-A6E28C5BE60D}"/>
          </ac:spMkLst>
        </pc:spChg>
        <pc:spChg chg="add">
          <ac:chgData name="Vandna Bajaj" userId="d171dd85e2b40418" providerId="LiveId" clId="{1E570A44-9CAE-45C8-8120-ADE3833C0EA5}" dt="2026-01-11T16:52:21.515" v="172"/>
          <ac:spMkLst>
            <pc:docMk/>
            <pc:sldMk cId="3856506729" sldId="945"/>
            <ac:spMk id="5" creationId="{A6280E63-FC56-9392-36A6-083DD99D9C72}"/>
          </ac:spMkLst>
        </pc:spChg>
        <pc:spChg chg="add">
          <ac:chgData name="Vandna Bajaj" userId="d171dd85e2b40418" providerId="LiveId" clId="{1E570A44-9CAE-45C8-8120-ADE3833C0EA5}" dt="2026-01-11T16:52:31.668" v="176"/>
          <ac:spMkLst>
            <pc:docMk/>
            <pc:sldMk cId="3856506729" sldId="945"/>
            <ac:spMk id="6" creationId="{3A3A7C4E-3FAD-B8BB-EDCF-4880D8C94DA3}"/>
          </ac:spMkLst>
        </pc:spChg>
        <pc:spChg chg="add mod">
          <ac:chgData name="Vandna Bajaj" userId="d171dd85e2b40418" providerId="LiveId" clId="{1E570A44-9CAE-45C8-8120-ADE3833C0EA5}" dt="2026-01-11T16:52:53.001" v="179"/>
          <ac:spMkLst>
            <pc:docMk/>
            <pc:sldMk cId="3856506729" sldId="945"/>
            <ac:spMk id="7" creationId="{F6DC63F7-3430-31A8-B3CA-FE8E2EEAA18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1E8CBA-0881-2319-7F58-773816D3A1B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0D980A-EB51-35A1-8BCF-69700F57BF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2DF404-3878-433B-A0A6-B0550DE0ECCB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A85A65-92A3-B0B5-1E61-4B050E789DC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996F57-7F82-FF97-20D1-8A490771D67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329F62-D634-4904-AB11-F130E2E4085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3702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282EEB-7ACD-47FE-8DDD-477AE8E2D78F}" type="datetimeFigureOut">
              <a:rPr lang="en-IN" smtClean="0"/>
              <a:t>11-01-2026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D43778-CF55-444F-B3CC-131C8599714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58969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74DFB-3008-8543-633F-58A4FDCE5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05E617-873D-1C3C-F1FE-596A7096C4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17E02-BCF9-92D4-5122-7BCC78C013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1162-177B-B734-FFE6-17BCFEDA52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9050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CB6A-3309-A352-6F5B-F53E110249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23BD7A-EC53-EBDD-F4CB-770D4CD15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3E10D-FED6-C3E0-3188-967FA00563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7AF20C-AA54-3F43-8899-DF2A34CC0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4014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E46B69-608F-5553-A61D-634336123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3E275-3ACD-879E-1247-46CDA8C6AF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F8886D-43FD-D549-AA24-AA19B947A1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New Courses replaced with New Programmes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C4768-6EAB-3F25-F26B-43FEF83263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AB949B3-C4AB-4FB2-8B24-B07A558BD59F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46852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DD43778-CF55-444F-B3CC-131C85997146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515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8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02AD-06D0-3C26-20F9-22B186D0C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616D0-C173-C3EC-9A42-1CEB5C532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EDC4F-FC6E-D89C-6884-284025A6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8F9-AC99-971E-B1E9-3ED72A91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ADC3B-6E10-FD36-5616-54DDDDD5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8770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CDB3-7998-CA81-7656-D5818227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1D27C-0C07-023D-8782-2B2A0D9BB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85CCB-7AB0-32C3-68B0-30EA13FF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DC121-40F8-028A-2341-F523C434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BE26C-49D3-7F4E-518D-D8E1B242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798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EAC09-269C-A309-7FC5-FF9DDE05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0B6E7-AA15-3136-EEF5-0E427D77A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B2C7D-9334-D96B-8C5F-5CC6A9C0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DF42-F271-BAFE-6DF7-440EBD4A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5725-EF56-46DE-CD30-0E2058BB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158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77EB-4981-4621-92D5-832C47DA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F08B5-D479-DD1E-7BBC-999597431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EE462-C966-BEC8-1C19-B80551845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57841-8D3F-3F81-7BBC-F0E739EA3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0E2A1-FDC4-6F6B-A981-597C178D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B127E-93AF-408F-65F8-123B4ED2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30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6A49-1C7D-2A3B-CD22-02DF31AE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F41F1-33BC-C161-F5B3-585F0349F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112C-0E84-F3E8-2C94-74A31C02B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454EC4-9A5D-9360-5ADC-CD0AD8FDD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2ADD6-23E5-BC12-75D6-6F01EFA7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67229-9B55-5AA7-D1B6-8EB95705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A4A34-252B-7ED4-473A-E73C24FA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4C530-DAAC-FAC5-FA5A-F611EB1F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175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635C-55F1-4358-6DCA-CC17CDEA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963A9-D552-CF4A-A16F-6EBB4E01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16F48-34F9-7E95-D9A7-4FF29465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578E7-BB70-E831-22BD-D9E07995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556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25379-EC1A-F354-DED8-BBF15349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DE727-5965-18A2-8FB0-B9F43016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B11D4-3A33-A524-31E6-B3CA7FA2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9429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F144-D785-233C-3195-66966616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4D6F-F06D-1FF5-1D5C-77CB4BAAA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AFE3F-6B17-16AF-BF5E-08F8724F7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A57CD-53DE-2919-6961-677E13F6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DBCD6-B53F-6671-F9B2-F4AD7E58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79B21-D0C3-0040-45AA-A6E1375F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745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A9C4-657A-5A99-0517-7175621B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4F5E1-E980-F929-2831-BD3A13788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55CA1-047A-ED4E-342B-E468902F8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8C991-F579-13B2-5027-56ADD3A5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2E0E3-780C-1F47-202E-E6715C67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F4BA5-2FAA-80A6-096B-E37969981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363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6F918-D3D6-8CC1-F3D7-754DB5F9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6FA95-73D1-FBA8-68F9-48697A427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5C640-3625-BA45-2825-6B372DFC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9B23A-9301-D9B6-928C-56EBC52B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C24FA-2D03-4E89-3566-47D4E5DA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6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AFA73-CD9F-B47A-D257-FB7BBD519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FD3D1-F82C-33FD-A2E5-D9AA39BD7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4283F-0316-9AF0-8515-372B3157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14F38-CF4A-E025-AB05-A36971B3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EE0DF-7D6A-00E8-58F3-540AB2FD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00002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DD70-D4E9-E051-93B0-B6241FE31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03FBF-F8B1-2913-8684-CC7AC2EED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45F60-2988-7780-772C-38B238F6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45881-0C94-7892-2D8B-6718111FC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535E0-A846-466A-C684-2C77FB27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071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19A2-860E-021C-F5C7-3764F926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79C5E-D534-82CF-74D5-CA4BE70D6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35CF2-691E-038E-B463-95748875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20DD6-1C03-7DFB-3CB1-75E9491A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68209-C9F8-0C2D-5469-D82AE2D4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072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9235-4BD3-DB53-1182-FAF8E90B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B9973-02E7-6005-2FE8-F89E987D2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A3B09-88AA-DBDC-281A-420A20A08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507E5-7455-5011-C9CE-8899890C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E68D3-12F5-7CD5-382D-21A0D4E2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682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230E-5971-6128-0B08-B46F63C9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74030-6B52-6D08-FF39-AD0942B43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6FDB6-0C8D-BDA6-22BD-54F5C7DCA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C4244-BDF3-5771-333E-72A8FA7E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37E99-F46B-E7F1-6DF0-361D9E4E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894AA-CF39-DCB1-D0AE-F189F961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162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ECAB-DF20-D6DE-5AD3-93B64522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9C9E5-506F-BD59-7DB4-DC4059EE8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621C2-45FE-4205-8A21-E0D0069CE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A3B77-F468-D9D7-9A3E-8CB4A2E9A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5ADE7E-99F9-264E-D088-D7A4247EB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A97E8-64C6-9129-47B4-9B02FAF4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A9493-4BD7-2AA7-C13E-E31E4E9EE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56679-242C-F8F4-D488-9A6A2B18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143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9F99-6B36-8444-FC90-4A3ED6C0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7FF67-00DA-B280-B297-B27288B6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CD7A5-2C4E-0460-BBFB-BBA45271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51D4F-4C98-1635-E9E7-F54C0E1A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0773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8B968-E3F4-D67A-89D2-53385901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B1EBD-B079-5054-F3BD-9BC1BD96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F4AA7-A474-A056-18FC-877E8B93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704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98E9-E087-4DA1-3318-EFFF1A45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E103-9176-61A0-F11D-755BDDDA3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4CAD8-A6CB-E57C-106C-B6EAC0B31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304D2-37F2-0D7F-DCAE-C45E6302C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30964-2C4F-DA98-9380-E42A2985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EC6FF-800E-A4D3-0082-6D31E372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1783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E578-EA1E-FF5E-F760-24CBAC92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CAA13-1CC8-AD0D-F19A-69C505984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197EA-883C-AABA-8A0F-0B9DF9BAE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8EF14-A45F-A560-9810-C2B7A2A9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A49CB-C4CE-A48A-7859-4D171732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5C734-DB28-7D1D-7243-E066D882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5204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23BF0-8509-488F-E7F9-04792E44A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4171A-71DE-251E-055E-19A528277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0E3C4-14DE-67C9-2339-DBC9148D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83D41-C3AD-8446-9C34-C60A9550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267B7-DDEB-6FF4-58C1-6DDAFD06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939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9F57E-7FBB-1986-5AFC-1E436B4D2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007D2-6BF6-937D-E3D6-51EC2A15F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B1464-F385-6D4D-8144-91801728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C8598-0475-C953-9F14-8BCFAF1D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0B728-0714-11E0-5C87-6763F8C3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5227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A2B7-B1AA-E896-E6A0-D221F717D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D6CDF-2C40-E166-123D-DD6178F36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85193-278A-5B53-A5FF-F88E55AD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BCA53-2E31-DF74-5A40-55FFB257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6F3D2-2D51-E9B7-5A24-F182CC47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8831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637C-0BC5-F260-AA3D-6A83F092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641D-0F0B-FDF7-0B05-8632B2186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0E946-5E98-5506-A2BF-EE7285FC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85B9E-2DE7-0208-0B1F-89AF8976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54AD0-42CC-AE5E-90D8-ABFAA5D5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90174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AAEA-4F85-8FAA-6BF5-32696793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5E9E3-6EB5-95B0-1E48-4CF62A611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D0B70-D675-8E0E-8173-F7524166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EC034-C1BD-05C5-E9A8-EA82081D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DF6E8-2D76-990E-8EF4-96840CE5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1211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FC97-75DF-B822-3D53-B55F5DB37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CAF4-4797-157B-9D45-30F032CCC2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AE989-500E-F32E-F4D3-004AA191D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A2772-851E-D325-14B0-3EDDD3FF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67972-C519-4DFD-CDFA-0A36CFE4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2D775-AD9D-9AC4-01E5-DBD1465B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584788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DBF7-61AB-765E-A9D3-DDFC0D3E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C0348-0B1A-94A8-F73A-58BCEFC09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78F21-F86C-1769-263B-183D10464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B8BB9-41A2-5F92-805D-53D5983D6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CF97B-1C0B-F5FD-84A1-27228025D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6669FD-7A0B-2A53-BD69-CF26B1B2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AF0F9-EA06-5930-FDC2-463B83A2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03B56-6DD5-6731-4F57-21F935D8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202257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4A30-595F-C4B9-094E-48527DE0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0D6EE-09C4-A66F-3C26-F5708321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D9B2E-EA8F-50B2-0F6F-2FE124811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0AAF5-ECB9-6C51-C1F8-132B2279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744618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0111C5-C0E4-6E1B-27DB-E269EA5C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BFAC1-3C64-982C-3485-967A4EF0D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A6027-C52F-4248-C698-F0AE14D4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358655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12F2-BE50-7607-DA04-19C07461B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2E7C7-2B15-EDEA-06B6-24160AD3D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6485E-8251-E030-4B64-C93A78306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2D075-465F-C76C-0605-62470582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E24DD-747A-259F-8A6E-4570E9F6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60281-E478-47EB-6318-54F4244E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934359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DC49-D8F3-DA36-7A3A-CDFCC7558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22DE-B083-BD36-1DCD-E98930793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F2D00-645D-2ACD-60A8-9E4007DE8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47948-FFC8-0A8F-0268-4C192CCE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340AC-13F0-A9E8-C49D-ACDEC0FD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ECFC8-2091-50C6-6A0B-B1FF37B6E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17651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672A-8A44-FAB2-09E4-02D176649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5DA52-EC01-CDB6-B95C-657F0E145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3pPr>
              <a:defRPr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E4B07-F634-9E15-395D-5AACD8D0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C38D2-6AB6-58A1-72B4-489DBDF8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9B924-2ECB-F812-BF9A-99B9DD8C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639991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24258-C522-3BD6-3893-E94EC96BBC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0562F-8A1A-56FC-BC4C-BC6689731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5D5B5-F962-CC86-D8D2-A48DD0A6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C2E6F-17A9-6FF4-D1F1-AAF1014B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0D1D1-8FA7-FF78-3971-F8413A0B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319490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EC35-FBA2-6996-71E1-EB252CB2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18039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AF4B-BD2C-FCCB-660B-2272B456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73643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EC35-FBA2-6996-71E1-EB252CB2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06674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BB66-3034-2292-1FA9-D00E59F5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75492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CD9C-EC44-8060-BBA6-1542B6E3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78486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AF4B-BD2C-FCCB-660B-2272B456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773643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EC35-FBA2-6996-71E1-EB252CB2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70667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BB66-3034-2292-1FA9-D00E59F5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97549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CD9C-EC44-8060-BBA6-1542B6E3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478486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02AD-06D0-3C26-20F9-22B186D0CB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F616D0-C173-C3EC-9A42-1CEB5C5323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EDC4F-FC6E-D89C-6884-284025A63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058F9-AC99-971E-B1E9-3ED72A911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ADC3B-6E10-FD36-5616-54DDDDD5F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68770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ECDB3-7998-CA81-7656-D5818227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1D27C-0C07-023D-8782-2B2A0D9BB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85CCB-7AB0-32C3-68B0-30EA13FF6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DC121-40F8-028A-2341-F523C43473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BE26C-49D3-7F4E-518D-D8E1B242A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79842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EAC09-269C-A309-7FC5-FF9DDE058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0B6E7-AA15-3136-EEF5-0E427D77A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7B2C7D-9334-D96B-8C5F-5CC6A9C06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D1DF42-F271-BAFE-6DF7-440EBD4A1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A5725-EF56-46DE-CD30-0E2058BB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11586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077EB-4981-4621-92D5-832C47DA1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6F08B5-D479-DD1E-7BBC-999597431E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DEE462-C966-BEC8-1C19-B80551845B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57841-8D3F-3F81-7BBC-F0E739EA3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30E2A1-FDC4-6F6B-A981-597C178D6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1B127E-93AF-408F-65F8-123B4ED2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630823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6C6A49-1C7D-2A3B-CD22-02DF31AE2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CF41F1-33BC-C161-F5B3-585F0349F0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112C-0E84-F3E8-2C94-74A31C02B7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454EC4-9A5D-9360-5ADC-CD0AD8FDD6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2ADD6-23E5-BC12-75D6-6F01EFA7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C67229-9B55-5AA7-D1B6-8EB95705A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3A4A34-252B-7ED4-473A-E73C24FA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84C530-DAAC-FAC5-FA5A-F611EB1F6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17580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6635C-55F1-4358-6DCA-CC17CDEAD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6963A9-D552-CF4A-A16F-6EBB4E01D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116F48-34F9-7E95-D9A7-4FF294650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0578E7-BB70-E831-22BD-D9E079953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55673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2825379-EC1A-F354-DED8-BBF15349D8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1DE727-5965-18A2-8FB0-B9F4301622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5B11D4-3A33-A524-31E6-B3CA7FA2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94296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B5F144-D785-233C-3195-66966616C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54D6F-F06D-1FF5-1D5C-77CB4BAAAE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0AFE3F-6B17-16AF-BF5E-08F8724F71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CA57CD-53DE-2919-6961-677E13F6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DBCD6-B53F-6671-F9B2-F4AD7E58E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79B21-D0C3-0040-45AA-A6E1375F9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974575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8A9C4-657A-5A99-0517-7175621B1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34F5E1-E980-F929-2831-BD3A13788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55CA1-047A-ED4E-342B-E468902F85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48C991-F579-13B2-5027-56ADD3A5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A2E0E3-780C-1F47-202E-E6715C67F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F4BA5-2FAA-80A6-096B-E37969981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36333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6F918-D3D6-8CC1-F3D7-754DB5F94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26FA95-73D1-FBA8-68F9-48697A427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5C640-3625-BA45-2825-6B372DFC9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9B23A-9301-D9B6-928C-56EBC52BA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5C24FA-2D03-4E89-3566-47D4E5DAC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266710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DAFA73-CD9F-B47A-D257-FB7BBD519D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5FD3D1-F82C-33FD-A2E5-D9AA39BD7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4283F-0316-9AF0-8515-372B3157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214F38-CF4A-E025-AB05-A36971B3E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EE0DF-7D6A-00E8-58F3-540AB2FD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900002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9DD70-D4E9-E051-93B0-B6241FE313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F03FBF-F8B1-2913-8684-CC7AC2EEDB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045F60-2988-7780-772C-38B238F68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45881-0C94-7892-2D8B-6718111FC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535E0-A846-466A-C684-2C77FB27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07138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919A2-860E-021C-F5C7-3764F926DB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79C5E-D534-82CF-74D5-CA4BE70D6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35CF2-691E-038E-B463-957488754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620DD6-1C03-7DFB-3CB1-75E9491A8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B68209-C9F8-0C2D-5469-D82AE2D47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9072745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E09235-4BD3-DB53-1182-FAF8E90BAC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B9973-02E7-6005-2FE8-F89E987D2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A3B09-88AA-DBDC-281A-420A20A08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507E5-7455-5011-C9CE-8899890CD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DE68D3-12F5-7CD5-382D-21A0D4E29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4682403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9230E-5971-6128-0B08-B46F63C9A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74030-6B52-6D08-FF39-AD0942B43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B6FDB6-0C8D-BDA6-22BD-54F5C7DCA5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C4244-BDF3-5771-333E-72A8FA7E2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37E99-F46B-E7F1-6DF0-361D9E4EC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894AA-CF39-DCB1-D0AE-F189F9613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16255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7ECAB-DF20-D6DE-5AD3-93B64522F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9C9E5-506F-BD59-7DB4-DC4059EE8F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1621C2-45FE-4205-8A21-E0D0069CE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EA3B77-F468-D9D7-9A3E-8CB4A2E9A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5ADE7E-99F9-264E-D088-D7A4247EB5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A97E8-64C6-9129-47B4-9B02FAF4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A9493-4BD7-2AA7-C13E-E31E4E9EE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A56679-242C-F8F4-D488-9A6A2B18F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814389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A9F99-6B36-8444-FC90-4A3ED6C0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F7FF67-00DA-B280-B297-B27288B6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5CD7A5-2C4E-0460-BBFB-BBA452712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F51D4F-4C98-1635-E9E7-F54C0E1A8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60773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D8B968-E3F4-D67A-89D2-533859018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B1EBD-B079-5054-F3BD-9BC1BD966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DF4AA7-A474-A056-18FC-877E8B93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70474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798E9-E087-4DA1-3318-EFFF1A458E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E103-9176-61A0-F11D-755BDDDA3E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94CAD8-A6CB-E57C-106C-B6EAC0B31A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9304D2-37F2-0D7F-DCAE-C45E6302C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30964-2C4F-DA98-9380-E42A2985E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EC6FF-800E-A4D3-0082-6D31E3729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178351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CE578-EA1E-FF5E-F760-24CBAC928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2CAA13-1CC8-AD0D-F19A-69C5059841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197EA-883C-AABA-8A0F-0B9DF9BAEF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8EF14-A45F-A560-9810-C2B7A2A95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CA49CB-C4CE-A48A-7859-4D171732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5C734-DB28-7D1D-7243-E066D8826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352048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23BF0-8509-488F-E7F9-04792E44A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14171A-71DE-251E-055E-19A5282778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E0E3C4-14DE-67C9-2339-DBC9148DE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83D41-C3AD-8446-9C34-C60A95507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B267B7-DDEB-6FF4-58C1-6DDAFD06D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8593963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6C9F57E-7FBB-1986-5AFC-1E436B4D24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2007D2-6BF6-937D-E3D6-51EC2A15FF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B1464-F385-6D4D-8144-918017281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CC8598-0475-C953-9F14-8BCFAF1D8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40B728-0714-11E0-5C87-6763F8C3D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522784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F8608-2A74-5DD9-E6A3-98A4827FBB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5FC91F-674E-5975-8EB0-84DF2EFD38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7F3BF-88E0-4147-33B9-1453EC58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6CB70-267F-A703-C69F-020848A0F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FAE7A-F76D-C784-3DE8-DAF477BC5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35048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B9BDF-66F6-4198-9D37-E8289CBBDF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04289-BF19-FA1A-0AE7-238F2A47F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BB8C2A-EBB0-55AC-2878-3DC415C60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A08506-F8CA-3208-4288-EF50AECA4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BED688-E71B-D315-B990-997710C7C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19378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B3D3A-4AFE-1A96-745C-DEBDB7C10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74BEF-A3EB-A095-3628-CCAFF94654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1F696-5994-AD48-78AA-40A99CB20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07F00-22AD-3060-4995-015301754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4400D-A26F-E192-7E0C-E9460F86D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694752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AB2C91-F205-BAED-0C0E-88A935620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15F6CE-A2E5-3756-6044-2B0BBEBEC6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8775E2-8512-9A88-A7D9-E510979391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FB3B87-CEC2-5094-F8F6-7708FFBAC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04FCE-CB3C-8985-DF43-028A95C21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DD7BF-11B1-055D-BD1B-8FC4C138A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9958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18685-2801-FBAA-A656-BC5283672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0B92AD-1FF2-0BEC-ABCC-E203F948E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4BBF6A-36C0-2C4F-35EC-A011B7A34E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13B73D-24FD-CF7C-9AA4-B6BE98828A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5D1A02-7A95-82C4-95B8-DB744D94DF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086369-3F85-298C-B323-DD5F4296C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A5BB6-1F19-6CC1-0727-3588A9016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FDD55D-1169-8849-3A8E-B4655853F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776471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72736-3329-AC2C-2356-9C4B32DA8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8010F1-45A3-E106-9C18-4FD0E7219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B5F0A-CAE3-470F-65A9-0D24803E8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E6528C-1D13-D21E-A2C3-22D42A56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968723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F149C7-BE96-1D69-CBEE-68E789A0F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185551-4C12-C399-79C4-34138A977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25DC48-9209-0E7E-C3CC-E4F80182B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0662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17B96-F8E5-3E4A-752B-849C03648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0EC4B6-CED0-FE1E-377D-D644E9959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8BD334-1867-FF0F-E0FA-D187F4E448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CD4154-0992-AAD1-983B-8A0290C2C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4334A5-03C3-A49C-02CE-39234B3A7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7E33F3-7069-F578-F196-8452250A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59260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D543-EF25-FAB9-7822-3C68184D8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624423-24FD-757F-CFC4-AE63571627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FF0057-BF37-E625-52ED-C4A5911B09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7DC981-03A6-A7FA-D45B-4CFE1886C0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9FC89E-48A7-26C7-DDDE-7F0BFBE2F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5667F0-DDF2-9B1A-B46E-886906835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936718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6280CE-E05D-88AE-1B9E-46D593934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5FFF88-0A63-34E6-49F9-C91C2B6E59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C6087-1B9E-1948-6B1A-DF15C1323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1BAA9A-9A4C-C773-C46F-8A214E38C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D525C-D9F1-2190-6193-81A845338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53284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A930FA-26DB-9EF1-9C66-B58403FE18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53E159-03EF-D124-58A9-7E169A1A41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7280D-7C35-BA9B-13B1-F2945A5CD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A182D7-7911-18F0-59FB-2806290D5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575959-7B90-EE0A-AE04-4C4B64D1A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34893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245519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57E0AE-C746-ACCD-F94B-CFD7DF72CA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478" y="4762"/>
            <a:ext cx="12200479" cy="6853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66156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FA2B7-B1AA-E896-E6A0-D221F717DD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D6CDF-2C40-E166-123D-DD6178F363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85193-278A-5B53-A5FF-F88E55AD8F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EBCA53-2E31-DF74-5A40-55FFB257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6F3D2-2D51-E9B7-5A24-F182CC478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7851683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6637C-0BC5-F260-AA3D-6A83F092F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C641D-0F0B-FDF7-0B05-8632B21869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0E946-5E98-5506-A2BF-EE7285FC78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285B9E-2DE7-0208-0B1F-89AF89763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154AD0-42CC-AE5E-90D8-ABFAA5D57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5821650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AAEA-4F85-8FAA-6BF5-326967935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5E9E3-6EB5-95B0-1E48-4CF62A6112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6D0B70-D675-8E0E-8173-F75241666A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1EC034-C1BD-05C5-E9A8-EA82081D3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6DF6E8-2D76-990E-8EF4-96840CE53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7922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FC97-75DF-B822-3D53-B55F5DB37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CAF4-4797-157B-9D45-30F032CCC2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AE989-500E-F32E-F4D3-004AA191D1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A2772-851E-D325-14B0-3EDDD3FF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67972-C519-4DFD-CDFA-0A36CFE4D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52D775-AD9D-9AC4-01E5-DBD1465B7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1599438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DDBF7-61AB-765E-A9D3-DDFC0D3EF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4C0348-0B1A-94A8-F73A-58BCEFC09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78F21-F86C-1769-263B-183D10464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B8BB9-41A2-5F92-805D-53D5983D6F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6CF97B-1C0B-F5FD-84A1-27228025D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86669FD-7A0B-2A53-BD69-CF26B1B2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AF0F9-EA06-5930-FDC2-463B83A20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E03B56-6DD5-6731-4F57-21F935D85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159953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14A30-595F-C4B9-094E-48527DE0E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80D6EE-09C4-A66F-3C26-F5708321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0D9B2E-EA8F-50B2-0F6F-2FE124811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0AAF5-ECB9-6C51-C1F8-132B22792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4086963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0111C5-C0E4-6E1B-27DB-E269EA5CCAB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5BFAC1-3C64-982C-3485-967A4EF0D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0A6027-C52F-4248-C698-F0AE14D4F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292750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E12F2-BE50-7607-DA04-19C07461B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2E7C7-2B15-EDEA-06B6-24160AD3D1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A6485E-8251-E030-4B64-C93A78306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2D075-465F-C76C-0605-62470582F7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AE24DD-747A-259F-8A6E-4570E9F69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C60281-E478-47EB-6318-54F4244E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399650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EDC49-D8F3-DA36-7A3A-CDFCC7558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49E22DE-B083-BD36-1DCD-E98930793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1F2D00-645D-2ACD-60A8-9E4007DE8F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F47948-FFC8-0A8F-0268-4C192CCE45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D340AC-13F0-A9E8-C49D-ACDEC0FDE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ECFC8-2091-50C6-6A0B-B1FF37B6E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386952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9672A-8A44-FAB2-09E4-02D176649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C5DA52-EC01-CDB6-B95C-657F0E1452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3pPr>
              <a:defRPr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EE4B07-F634-9E15-395D-5AACD8D02B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C38D2-6AB6-58A1-72B4-489DBDF82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9B924-2ECB-F812-BF9A-99B9DD8C2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1752527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C24258-C522-3BD6-3893-E94EC96BBC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10562F-8A1A-56FC-BC4C-BC6689731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B5D5B5-F962-CC86-D8D2-A48DD0A63D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C2E6F-17A9-6FF4-D1F1-AAF1014B9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E0D1D1-8FA7-FF78-3971-F8413A0B4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71FD8C8-41C9-41B6-93E2-6EAF5FC3CB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815961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EC35-FBA2-6996-71E1-EB252CB2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93866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AF4B-BD2C-FCCB-660B-2272B456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81589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EC35-FBA2-6996-71E1-EB252CB2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41260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BB66-3034-2292-1FA9-D00E59F5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796686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CD9C-EC44-8060-BBA6-1542B6E3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165490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AAF4B-BD2C-FCCB-660B-2272B456D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5668776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EC35-FBA2-6996-71E1-EB252CB26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192662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3BB66-3034-2292-1FA9-D00E59F5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43613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ECD9C-EC44-8060-BBA6-1542B6E3F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61636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3" Type="http://schemas.openxmlformats.org/officeDocument/2006/relationships/slideLayout" Target="../slideLayouts/slideLayout25.xml"/><Relationship Id="rId21" Type="http://schemas.openxmlformats.org/officeDocument/2006/relationships/theme" Target="../theme/theme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5.xml"/><Relationship Id="rId7" Type="http://schemas.openxmlformats.org/officeDocument/2006/relationships/slideLayout" Target="../slideLayouts/slideLayout49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4.xml"/><Relationship Id="rId1" Type="http://schemas.openxmlformats.org/officeDocument/2006/relationships/slideLayout" Target="../slideLayouts/slideLayout43.xml"/><Relationship Id="rId6" Type="http://schemas.openxmlformats.org/officeDocument/2006/relationships/slideLayout" Target="../slideLayouts/slideLayout48.xml"/><Relationship Id="rId11" Type="http://schemas.openxmlformats.org/officeDocument/2006/relationships/slideLayout" Target="../slideLayouts/slideLayout53.xml"/><Relationship Id="rId5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6.xml"/><Relationship Id="rId9" Type="http://schemas.openxmlformats.org/officeDocument/2006/relationships/slideLayout" Target="../slideLayouts/slideLayout51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1.xml"/><Relationship Id="rId3" Type="http://schemas.openxmlformats.org/officeDocument/2006/relationships/slideLayout" Target="../slideLayouts/slideLayout56.xml"/><Relationship Id="rId7" Type="http://schemas.openxmlformats.org/officeDocument/2006/relationships/slideLayout" Target="../slideLayouts/slideLayout60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5.xml"/><Relationship Id="rId1" Type="http://schemas.openxmlformats.org/officeDocument/2006/relationships/slideLayout" Target="../slideLayouts/slideLayout54.xml"/><Relationship Id="rId6" Type="http://schemas.openxmlformats.org/officeDocument/2006/relationships/slideLayout" Target="../slideLayouts/slideLayout59.xml"/><Relationship Id="rId11" Type="http://schemas.openxmlformats.org/officeDocument/2006/relationships/slideLayout" Target="../slideLayouts/slideLayout64.xml"/><Relationship Id="rId5" Type="http://schemas.openxmlformats.org/officeDocument/2006/relationships/slideLayout" Target="../slideLayouts/slideLayout58.xml"/><Relationship Id="rId10" Type="http://schemas.openxmlformats.org/officeDocument/2006/relationships/slideLayout" Target="../slideLayouts/slideLayout63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2.xml"/><Relationship Id="rId3" Type="http://schemas.openxmlformats.org/officeDocument/2006/relationships/slideLayout" Target="../slideLayouts/slideLayout67.xml"/><Relationship Id="rId7" Type="http://schemas.openxmlformats.org/officeDocument/2006/relationships/slideLayout" Target="../slideLayouts/slideLayout71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6.xml"/><Relationship Id="rId1" Type="http://schemas.openxmlformats.org/officeDocument/2006/relationships/slideLayout" Target="../slideLayouts/slideLayout65.xml"/><Relationship Id="rId6" Type="http://schemas.openxmlformats.org/officeDocument/2006/relationships/slideLayout" Target="../slideLayouts/slideLayout70.xml"/><Relationship Id="rId11" Type="http://schemas.openxmlformats.org/officeDocument/2006/relationships/slideLayout" Target="../slideLayouts/slideLayout75.xml"/><Relationship Id="rId5" Type="http://schemas.openxmlformats.org/officeDocument/2006/relationships/slideLayout" Target="../slideLayouts/slideLayout69.xml"/><Relationship Id="rId10" Type="http://schemas.openxmlformats.org/officeDocument/2006/relationships/slideLayout" Target="../slideLayouts/slideLayout74.xml"/><Relationship Id="rId4" Type="http://schemas.openxmlformats.org/officeDocument/2006/relationships/slideLayout" Target="../slideLayouts/slideLayout68.xml"/><Relationship Id="rId9" Type="http://schemas.openxmlformats.org/officeDocument/2006/relationships/slideLayout" Target="../slideLayouts/slideLayout73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6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77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5.xml"/><Relationship Id="rId13" Type="http://schemas.openxmlformats.org/officeDocument/2006/relationships/slideLayout" Target="../slideLayouts/slideLayout90.xml"/><Relationship Id="rId18" Type="http://schemas.openxmlformats.org/officeDocument/2006/relationships/slideLayout" Target="../slideLayouts/slideLayout95.xml"/><Relationship Id="rId3" Type="http://schemas.openxmlformats.org/officeDocument/2006/relationships/slideLayout" Target="../slideLayouts/slideLayout80.xml"/><Relationship Id="rId21" Type="http://schemas.openxmlformats.org/officeDocument/2006/relationships/theme" Target="../theme/theme9.xml"/><Relationship Id="rId7" Type="http://schemas.openxmlformats.org/officeDocument/2006/relationships/slideLayout" Target="../slideLayouts/slideLayout84.xml"/><Relationship Id="rId12" Type="http://schemas.openxmlformats.org/officeDocument/2006/relationships/slideLayout" Target="../slideLayouts/slideLayout89.xml"/><Relationship Id="rId17" Type="http://schemas.openxmlformats.org/officeDocument/2006/relationships/slideLayout" Target="../slideLayouts/slideLayout94.xml"/><Relationship Id="rId2" Type="http://schemas.openxmlformats.org/officeDocument/2006/relationships/slideLayout" Target="../slideLayouts/slideLayout79.xml"/><Relationship Id="rId16" Type="http://schemas.openxmlformats.org/officeDocument/2006/relationships/slideLayout" Target="../slideLayouts/slideLayout93.xml"/><Relationship Id="rId20" Type="http://schemas.openxmlformats.org/officeDocument/2006/relationships/slideLayout" Target="../slideLayouts/slideLayout97.xml"/><Relationship Id="rId1" Type="http://schemas.openxmlformats.org/officeDocument/2006/relationships/slideLayout" Target="../slideLayouts/slideLayout78.xml"/><Relationship Id="rId6" Type="http://schemas.openxmlformats.org/officeDocument/2006/relationships/slideLayout" Target="../slideLayouts/slideLayout83.xml"/><Relationship Id="rId11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2.xml"/><Relationship Id="rId15" Type="http://schemas.openxmlformats.org/officeDocument/2006/relationships/slideLayout" Target="../slideLayouts/slideLayout92.xml"/><Relationship Id="rId23" Type="http://schemas.openxmlformats.org/officeDocument/2006/relationships/image" Target="../media/image1.png"/><Relationship Id="rId10" Type="http://schemas.openxmlformats.org/officeDocument/2006/relationships/slideLayout" Target="../slideLayouts/slideLayout87.xml"/><Relationship Id="rId19" Type="http://schemas.openxmlformats.org/officeDocument/2006/relationships/slideLayout" Target="../slideLayouts/slideLayout96.xml"/><Relationship Id="rId4" Type="http://schemas.openxmlformats.org/officeDocument/2006/relationships/slideLayout" Target="../slideLayouts/slideLayout81.xml"/><Relationship Id="rId9" Type="http://schemas.openxmlformats.org/officeDocument/2006/relationships/slideLayout" Target="../slideLayouts/slideLayout86.xml"/><Relationship Id="rId14" Type="http://schemas.openxmlformats.org/officeDocument/2006/relationships/slideLayout" Target="../slideLayouts/slideLayout91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036C1-47BC-6C99-2F7D-DF1D88A7A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61203-2556-9825-BFE8-FC8BE78A7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1D341-F0ED-85F8-C638-53EB97DED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11FCF-043E-4015-4E47-FAE03EE54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ED953-F194-64A4-70BD-9A130FAE2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16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F22F20-EC2E-47EE-2AA9-E4AD3BA5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19BA5-FAB4-12D2-E446-CB6B4D2AD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DFB85-112A-7537-C9D5-BFF726956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FF2D9-0A06-F127-5F5A-E8FDE65FD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B966B-35BC-0FF4-D8FE-8E10FF347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96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B6EDB6-4774-FEBF-550C-85EB321B8E87}"/>
              </a:ext>
            </a:extLst>
          </p:cNvPr>
          <p:cNvSpPr/>
          <p:nvPr userDrawn="1"/>
        </p:nvSpPr>
        <p:spPr>
          <a:xfrm>
            <a:off x="0" y="0"/>
            <a:ext cx="12192000" cy="14140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E8DC66-C881-3BD9-719E-3969A98EDCD9}"/>
              </a:ext>
            </a:extLst>
          </p:cNvPr>
          <p:cNvSpPr/>
          <p:nvPr userDrawn="1"/>
        </p:nvSpPr>
        <p:spPr>
          <a:xfrm>
            <a:off x="-7859" y="1104506"/>
            <a:ext cx="12192000" cy="457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DDD93B-3A14-4209-6521-D7539087FD6C}"/>
              </a:ext>
            </a:extLst>
          </p:cNvPr>
          <p:cNvSpPr/>
          <p:nvPr userDrawn="1"/>
        </p:nvSpPr>
        <p:spPr>
          <a:xfrm>
            <a:off x="-6291" y="6713455"/>
            <a:ext cx="3985970" cy="141402"/>
          </a:xfrm>
          <a:prstGeom prst="rect">
            <a:avLst/>
          </a:prstGeom>
          <a:solidFill>
            <a:srgbClr val="FF00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170139-2614-AE08-1C4F-A07375289CEF}"/>
              </a:ext>
            </a:extLst>
          </p:cNvPr>
          <p:cNvSpPr/>
          <p:nvPr userDrawn="1"/>
        </p:nvSpPr>
        <p:spPr>
          <a:xfrm>
            <a:off x="3970252" y="6713455"/>
            <a:ext cx="8221748" cy="141402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606E14-35F4-6D12-35C2-A0145CA337A2}"/>
              </a:ext>
            </a:extLst>
          </p:cNvPr>
          <p:cNvPicPr>
            <a:picLocks noChangeAspect="1"/>
          </p:cNvPicPr>
          <p:nvPr userDrawn="1"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40" y="141402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25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7" r:id="rId13"/>
    <p:sldLayoutId id="2147483660" r:id="rId14"/>
    <p:sldLayoutId id="2147483686" r:id="rId15"/>
    <p:sldLayoutId id="2147483688" r:id="rId16"/>
    <p:sldLayoutId id="2147483717" r:id="rId17"/>
    <p:sldLayoutId id="2147483714" r:id="rId18"/>
    <p:sldLayoutId id="2147483716" r:id="rId19"/>
    <p:sldLayoutId id="2147483715" r:id="rId2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F036C1-47BC-6C99-2F7D-DF1D88A7A0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E61203-2556-9825-BFE8-FC8BE78A7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1D341-F0ED-85F8-C638-53EB97DED2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911FCF-043E-4015-4E47-FAE03EE540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8ED953-F194-64A4-70BD-9A130FAE2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597EA4-FCA4-4C6E-9D55-68B0594DB3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9165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F22F20-EC2E-47EE-2AA9-E4AD3BA5D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F19BA5-FAB4-12D2-E446-CB6B4D2AD0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DFB85-112A-7537-C9D5-BFF7269564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FF2D9-0A06-F127-5F5A-E8FDE65FD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B966B-35BC-0FF4-D8FE-8E10FF347F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D1DFA-AB87-4F1F-B081-FA61E365E42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3961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02ABCF-36FA-4615-2286-1E6D0C5B4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CA3759-2F14-D8C0-5F3B-A9B663254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093435-1034-8876-674D-A1DC8F3149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5598B2-BC6D-B44C-407B-B2D31F76A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Vandna Batra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3B2B7C-B325-C9D6-B9D9-F09151A07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6FFC44-2A8C-4AF0-877A-052D3F7379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987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65AB3A9-09B1-0A2F-5BA3-BA1C502F1079}"/>
              </a:ext>
            </a:extLst>
          </p:cNvPr>
          <p:cNvSpPr/>
          <p:nvPr userDrawn="1"/>
        </p:nvSpPr>
        <p:spPr>
          <a:xfrm>
            <a:off x="0" y="0"/>
            <a:ext cx="12192000" cy="14140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4D46ECB-104D-4B54-7538-CBCA44713415}"/>
              </a:ext>
            </a:extLst>
          </p:cNvPr>
          <p:cNvSpPr/>
          <p:nvPr userDrawn="1"/>
        </p:nvSpPr>
        <p:spPr>
          <a:xfrm>
            <a:off x="-6291" y="6713455"/>
            <a:ext cx="3985970" cy="141402"/>
          </a:xfrm>
          <a:prstGeom prst="rect">
            <a:avLst/>
          </a:prstGeom>
          <a:solidFill>
            <a:srgbClr val="FF00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94ECF1-19F0-54B4-5275-812E14196FA2}"/>
              </a:ext>
            </a:extLst>
          </p:cNvPr>
          <p:cNvSpPr/>
          <p:nvPr userDrawn="1"/>
        </p:nvSpPr>
        <p:spPr>
          <a:xfrm>
            <a:off x="3970252" y="6713455"/>
            <a:ext cx="8221748" cy="141402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97C9466-2955-8087-E527-4A240B56AD8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4900" y="480216"/>
            <a:ext cx="5389768" cy="707566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0FCA328-301C-EDE2-6478-A03BFB07150B}"/>
              </a:ext>
            </a:extLst>
          </p:cNvPr>
          <p:cNvCxnSpPr>
            <a:cxnSpLocks/>
          </p:cNvCxnSpPr>
          <p:nvPr userDrawn="1"/>
        </p:nvCxnSpPr>
        <p:spPr>
          <a:xfrm>
            <a:off x="3638746" y="1391548"/>
            <a:ext cx="531592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C3CF045-B9FB-0C1C-98C4-1F78CDF8A678}"/>
              </a:ext>
            </a:extLst>
          </p:cNvPr>
          <p:cNvSpPr txBox="1"/>
          <p:nvPr userDrawn="1"/>
        </p:nvSpPr>
        <p:spPr>
          <a:xfrm>
            <a:off x="1752349" y="5811459"/>
            <a:ext cx="88569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US" sz="2400" b="1" dirty="0">
                <a:solidFill>
                  <a:srgbClr val="C00000"/>
                </a:solidFill>
                <a:cs typeface="Times New Roman" panose="02020603050405020304" pitchFamily="18" charset="0"/>
                <a:sym typeface="Arial"/>
              </a:rPr>
              <a:t>School of Engineering &amp; Technology</a:t>
            </a:r>
          </a:p>
          <a:p>
            <a:pPr lvl="0" algn="ctr">
              <a:buSzPct val="25000"/>
            </a:pPr>
            <a:r>
              <a:rPr lang="en-US" sz="2400" b="1" dirty="0">
                <a:solidFill>
                  <a:srgbClr val="C00000"/>
                </a:solidFill>
                <a:cs typeface="Times New Roman" panose="02020603050405020304" pitchFamily="18" charset="0"/>
                <a:sym typeface="Arial"/>
              </a:rPr>
              <a:t>K.R. Mangalam University, Gurugram (Haryana)</a:t>
            </a:r>
            <a:endParaRPr lang="en-IN" sz="2400" b="1" dirty="0">
              <a:solidFill>
                <a:srgbClr val="C00000"/>
              </a:solidFill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30177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Dr. Vandna Batra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97446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9" r:id="rId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2">
            <a:lum/>
          </a:blip>
          <a:srcRect/>
          <a:stretch>
            <a:fillRect t="-100" r="-1000" b="-26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4B6EDB6-4774-FEBF-550C-85EB321B8E87}"/>
              </a:ext>
            </a:extLst>
          </p:cNvPr>
          <p:cNvSpPr/>
          <p:nvPr userDrawn="1"/>
        </p:nvSpPr>
        <p:spPr>
          <a:xfrm>
            <a:off x="0" y="0"/>
            <a:ext cx="12192000" cy="141402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FE8DC66-C881-3BD9-719E-3969A98EDCD9}"/>
              </a:ext>
            </a:extLst>
          </p:cNvPr>
          <p:cNvSpPr/>
          <p:nvPr userDrawn="1"/>
        </p:nvSpPr>
        <p:spPr>
          <a:xfrm>
            <a:off x="-7859" y="1104506"/>
            <a:ext cx="12192000" cy="45719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DDD93B-3A14-4209-6521-D7539087FD6C}"/>
              </a:ext>
            </a:extLst>
          </p:cNvPr>
          <p:cNvSpPr/>
          <p:nvPr userDrawn="1"/>
        </p:nvSpPr>
        <p:spPr>
          <a:xfrm>
            <a:off x="-6291" y="6713455"/>
            <a:ext cx="3985970" cy="141402"/>
          </a:xfrm>
          <a:prstGeom prst="rect">
            <a:avLst/>
          </a:prstGeom>
          <a:solidFill>
            <a:srgbClr val="FF0000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1170139-2614-AE08-1C4F-A07375289CEF}"/>
              </a:ext>
            </a:extLst>
          </p:cNvPr>
          <p:cNvSpPr/>
          <p:nvPr userDrawn="1"/>
        </p:nvSpPr>
        <p:spPr>
          <a:xfrm>
            <a:off x="3970252" y="6713455"/>
            <a:ext cx="8221748" cy="141402"/>
          </a:xfrm>
          <a:prstGeom prst="rect">
            <a:avLst/>
          </a:prstGeom>
          <a:solidFill>
            <a:schemeClr val="accent1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C606E14-35F4-6D12-35C2-A0145CA337A2}"/>
              </a:ext>
            </a:extLst>
          </p:cNvPr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240" y="141402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2672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introduction-to-algorithms/" TargetMode="External"/><Relationship Id="rId2" Type="http://schemas.openxmlformats.org/officeDocument/2006/relationships/hyperlink" Target="https://ocw.mit.edu/" TargetMode="External"/><Relationship Id="rId1" Type="http://schemas.openxmlformats.org/officeDocument/2006/relationships/slideLayout" Target="../slideLayouts/slideLayout2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dsa/introduction-to-algorithms/" TargetMode="External"/><Relationship Id="rId2" Type="http://schemas.openxmlformats.org/officeDocument/2006/relationships/hyperlink" Target="https://ocw.mit.edu/courses/electrical-engineering-and-computer-science/6-046j-introduction-to-algorithms/" TargetMode="External"/><Relationship Id="rId1" Type="http://schemas.openxmlformats.org/officeDocument/2006/relationships/slideLayout" Target="../slideLayouts/slideLayout7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6DC39D1-AEA6-FF82-17B3-87B7A5451EEE}"/>
              </a:ext>
            </a:extLst>
          </p:cNvPr>
          <p:cNvSpPr txBox="1"/>
          <p:nvPr/>
        </p:nvSpPr>
        <p:spPr>
          <a:xfrm>
            <a:off x="1326852" y="1719146"/>
            <a:ext cx="9179169" cy="350865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600" b="1" dirty="0"/>
              <a:t>Analysis and Design of Algorithms</a:t>
            </a:r>
          </a:p>
          <a:p>
            <a:pPr algn="ctr"/>
            <a:r>
              <a:rPr lang="en-US" sz="3600" b="1">
                <a:ea typeface="Calibri"/>
                <a:cs typeface="Calibri"/>
              </a:rPr>
              <a:t>ENCS202</a:t>
            </a:r>
            <a:endParaRPr lang="en-US" sz="3600" b="1" dirty="0">
              <a:ea typeface="Calibri"/>
              <a:cs typeface="Calibri"/>
            </a:endParaRPr>
          </a:p>
          <a:p>
            <a:pPr algn="ctr"/>
            <a:endParaRPr lang="en-US" sz="3600" b="1" dirty="0"/>
          </a:p>
          <a:p>
            <a:pPr algn="ctr"/>
            <a:r>
              <a:rPr lang="en-US" sz="3200" b="1" dirty="0">
                <a:solidFill>
                  <a:srgbClr val="FF0000"/>
                </a:solidFill>
              </a:rPr>
              <a:t>Unit-1</a:t>
            </a:r>
          </a:p>
          <a:p>
            <a:pPr algn="ctr"/>
            <a:r>
              <a:rPr lang="en-US" sz="3200" b="1" dirty="0">
                <a:solidFill>
                  <a:srgbClr val="FF0000"/>
                </a:solidFill>
              </a:rPr>
              <a:t>Introduction to Algorithms</a:t>
            </a:r>
          </a:p>
          <a:p>
            <a:pPr algn="ctr"/>
            <a:r>
              <a:rPr lang="en-US" sz="2400" b="1" dirty="0">
                <a:ea typeface="Calibri"/>
                <a:cs typeface="Calibri"/>
              </a:rPr>
              <a:t>Session 1:</a:t>
            </a:r>
            <a:r>
              <a:rPr lang="en-US" sz="2400" b="1">
                <a:latin typeface="Calibri"/>
                <a:ea typeface="Calibri"/>
                <a:cs typeface="Calibri"/>
              </a:rPr>
              <a:t>Characteristics of Algorithm</a:t>
            </a:r>
          </a:p>
          <a:p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63A937-6A05-EE4A-2C62-FEAD2B3DEA77}"/>
              </a:ext>
            </a:extLst>
          </p:cNvPr>
          <p:cNvSpPr txBox="1"/>
          <p:nvPr/>
        </p:nvSpPr>
        <p:spPr>
          <a:xfrm>
            <a:off x="3048000" y="5073805"/>
            <a:ext cx="6096000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800" b="1" baseline="0">
                <a:latin typeface="Calibri"/>
                <a:ea typeface="Segoe UI"/>
                <a:cs typeface="Segoe UI"/>
              </a:rPr>
              <a:t>Dr. Vandna Batra</a:t>
            </a:r>
            <a:r>
              <a:rPr lang="en-US" sz="2800">
                <a:latin typeface="Calibri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2800">
                <a:latin typeface="Calibri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808118"/>
      </p:ext>
    </p:extLst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9099B22-9FA9-1FAA-D08D-F3C80309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0CE4655-45F0-8225-0B3B-452512BC49A5}"/>
              </a:ext>
            </a:extLst>
          </p:cNvPr>
          <p:cNvCxnSpPr>
            <a:cxnSpLocks/>
          </p:cNvCxnSpPr>
          <p:nvPr/>
        </p:nvCxnSpPr>
        <p:spPr>
          <a:xfrm>
            <a:off x="-68826" y="1061448"/>
            <a:ext cx="12260826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236DC02-599B-DF7E-0281-3D512FA448DC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3" y="12081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en-IN" sz="3600" b="1" i="0" u="none" strike="noStrike" kern="1200" cap="none" spc="0" normalizeH="0" baseline="0" noProof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79542EF-0836-8363-678A-2FD2B60D1F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913" y="27321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en-IN" sz="3600" b="1" i="0" u="none" strike="noStrike" kern="1200" cap="none" spc="0" normalizeH="0" baseline="0" noProof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E17DDF5C-0AFF-81AB-D11F-0BD36CA786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84787" y="788793"/>
            <a:ext cx="9753599" cy="566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Session 1:</a:t>
            </a:r>
            <a:r>
              <a:rPr lang="en-US" sz="3200" b="1">
                <a:solidFill>
                  <a:prstClr val="white"/>
                </a:solidFill>
                <a:latin typeface="Calibri" panose="020F0502020204030204"/>
              </a:rPr>
              <a:t> </a:t>
            </a:r>
            <a:r>
              <a:rPr kumimoji="0" lang="en-US" sz="3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Characteristics of Algorithm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367569" y="1708339"/>
            <a:ext cx="781515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Introduction to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Properties of an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Characteristics of an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Analysis of an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Importance for Analysis of an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Complexity of an Algorithm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Time Complexity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Space Complexity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 Your Knowledge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Recap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References </a:t>
            </a:r>
          </a:p>
        </p:txBody>
      </p:sp>
    </p:spTree>
    <p:extLst>
      <p:ext uri="{BB962C8B-B14F-4D97-AF65-F5344CB8AC3E}">
        <p14:creationId xmlns:p14="http://schemas.microsoft.com/office/powerpoint/2010/main" val="1053405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3F762EC0-294F-7B9D-CD2E-01EACE688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14B432A-6C50-605E-EA69-39DAF9816573}"/>
              </a:ext>
            </a:extLst>
          </p:cNvPr>
          <p:cNvCxnSpPr>
            <a:cxnSpLocks/>
          </p:cNvCxnSpPr>
          <p:nvPr/>
        </p:nvCxnSpPr>
        <p:spPr>
          <a:xfrm>
            <a:off x="-68826" y="1061448"/>
            <a:ext cx="12260826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746857F-97E9-619D-4EDF-2EEB8F07DC8E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956EF15-58BA-1F8C-F075-A8E90AAE6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3" y="12081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en-IN" sz="3600" b="1" i="0" u="none" strike="noStrike" kern="1200" cap="none" spc="0" normalizeH="0" baseline="0" noProof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93C8F7CC-E49D-FC32-8D27-FECCBCBBE4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913" y="27321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en-IN" sz="3600" b="1" i="0" u="none" strike="noStrike" kern="1200" cap="none" spc="0" normalizeH="0" baseline="0" noProof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F8F68EDF-7D4E-AF7D-E85E-C6BC06064A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00A2F8E-77C5-7168-3642-8782CBF77E49}"/>
              </a:ext>
            </a:extLst>
          </p:cNvPr>
          <p:cNvSpPr/>
          <p:nvPr/>
        </p:nvSpPr>
        <p:spPr>
          <a:xfrm>
            <a:off x="1184787" y="788793"/>
            <a:ext cx="9753599" cy="566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IN" sz="3200" dirty="0"/>
              <a:t>Learning Outcomes (Session 1)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73CDC0-CEDC-989C-5C1A-BAABCF088E45}"/>
              </a:ext>
            </a:extLst>
          </p:cNvPr>
          <p:cNvSpPr txBox="1"/>
          <p:nvPr/>
        </p:nvSpPr>
        <p:spPr>
          <a:xfrm>
            <a:off x="1367568" y="1708339"/>
            <a:ext cx="9376631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By the end of this session, students will be able to:</a:t>
            </a:r>
          </a:p>
          <a:p>
            <a:endParaRPr lang="en-US" sz="2400" dirty="0"/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Define an algorithm and distinguish it from a program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Identify key properties and characteristics of algorithms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/>
              <a:t>Explain time and space complexity with simple examples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795752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ECE60C57-C901-C36D-9F66-7516B88D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B68C687-5072-C82F-E182-1967D26A11D3}"/>
              </a:ext>
            </a:extLst>
          </p:cNvPr>
          <p:cNvCxnSpPr>
            <a:cxnSpLocks/>
          </p:cNvCxnSpPr>
          <p:nvPr/>
        </p:nvCxnSpPr>
        <p:spPr>
          <a:xfrm>
            <a:off x="-68826" y="1061448"/>
            <a:ext cx="12260826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8F1FDE29-1EED-BE83-D8E2-500041BA12C1}"/>
              </a:ext>
            </a:extLst>
          </p:cNvPr>
          <p:cNvSpPr txBox="1"/>
          <p:nvPr/>
        </p:nvSpPr>
        <p:spPr>
          <a:xfrm>
            <a:off x="1703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n-US" sz="2800" b="0" i="0" u="none" strike="noStrike" kern="1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C229C99F-DB8E-FE34-B0D6-D295EC858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3" y="12081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en-IN" sz="3600" b="1" i="0" u="none" strike="noStrike" kern="1200" cap="none" spc="0" normalizeH="0" baseline="0" noProof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" name="Rectangle 1">
            <a:extLst>
              <a:ext uri="{FF2B5EF4-FFF2-40B4-BE49-F238E27FC236}">
                <a16:creationId xmlns:a16="http://schemas.microsoft.com/office/drawing/2014/main" id="{43BB0C08-9886-5164-01B1-48D788BC8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5913" y="273216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en-IN" sz="3600" b="1" i="0" u="none" strike="noStrike" kern="1200" cap="none" spc="0" normalizeH="0" baseline="0" noProof="0">
              <a:ln>
                <a:noFill/>
              </a:ln>
              <a:solidFill>
                <a:srgbClr val="E31E24"/>
              </a:solidFill>
              <a:effectLst/>
              <a:uLnTx/>
              <a:uFillTx/>
              <a:latin typeface="Calibri" panose="020F0502020204030204"/>
              <a:ea typeface="+mn-ea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13" name="Content Placeholder 3">
            <a:extLst>
              <a:ext uri="{FF2B5EF4-FFF2-40B4-BE49-F238E27FC236}">
                <a16:creationId xmlns:a16="http://schemas.microsoft.com/office/drawing/2014/main" id="{28A934C9-762A-64EE-9CB3-04C97A8A5E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5D9414C-8173-01FE-F65F-1871DB15FD63}"/>
              </a:ext>
            </a:extLst>
          </p:cNvPr>
          <p:cNvSpPr/>
          <p:nvPr/>
        </p:nvSpPr>
        <p:spPr>
          <a:xfrm>
            <a:off x="1184787" y="788793"/>
            <a:ext cx="9753599" cy="5663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>
              <a:defRPr/>
            </a:pPr>
            <a:r>
              <a:rPr lang="en-IN" sz="3200" dirty="0"/>
              <a:t>Quick Warm-Up: Think &amp; Respond”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EC9866-0099-CDB0-636F-9F3F61DE3C7D}"/>
              </a:ext>
            </a:extLst>
          </p:cNvPr>
          <p:cNvSpPr txBox="1"/>
          <p:nvPr/>
        </p:nvSpPr>
        <p:spPr>
          <a:xfrm>
            <a:off x="1367568" y="1681962"/>
            <a:ext cx="9376631" cy="38515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“Have you written a program before?” (Yes / No)</a:t>
            </a:r>
          </a:p>
          <a:p>
            <a:endParaRPr lang="en-US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/>
              <a:t>Poll:</a:t>
            </a:r>
            <a:r>
              <a:rPr lang="en-US" sz="2400" dirty="0"/>
              <a:t> Is this an Algorithm?</a:t>
            </a:r>
          </a:p>
          <a:p>
            <a:endParaRPr lang="en-US" sz="2400" dirty="0"/>
          </a:p>
          <a:p>
            <a:pPr marL="914400" lvl="1" indent="-457200">
              <a:lnSpc>
                <a:spcPct val="150000"/>
              </a:lnSpc>
              <a:buAutoNum type="alphaUcPeriod"/>
            </a:pPr>
            <a:r>
              <a:rPr lang="en-US" sz="2400" dirty="0"/>
              <a:t>A recipe for baking a chocolate cake.</a:t>
            </a:r>
          </a:p>
          <a:p>
            <a:pPr marL="914400" lvl="1" indent="-457200">
              <a:lnSpc>
                <a:spcPct val="150000"/>
              </a:lnSpc>
              <a:buAutoNum type="alphaUcPeriod"/>
            </a:pPr>
            <a:r>
              <a:rPr lang="en-US" sz="2400" dirty="0"/>
              <a:t>A user manual for changing a flat tire</a:t>
            </a:r>
          </a:p>
          <a:p>
            <a:pPr marL="914400" lvl="1" indent="-457200">
              <a:lnSpc>
                <a:spcPct val="150000"/>
              </a:lnSpc>
              <a:buAutoNum type="alphaUcPeriod"/>
            </a:pPr>
            <a:r>
              <a:rPr lang="en-US" sz="2400" dirty="0"/>
              <a:t>A C++ source file (</a:t>
            </a:r>
            <a:r>
              <a:rPr lang="en-US" dirty="0"/>
              <a:t>sort.cpp</a:t>
            </a:r>
            <a:r>
              <a:rPr lang="en-US" sz="2400" dirty="0"/>
              <a:t>) that organizes numbers</a:t>
            </a:r>
          </a:p>
          <a:p>
            <a:pPr marL="914400" lvl="1" indent="-457200">
              <a:lnSpc>
                <a:spcPct val="150000"/>
              </a:lnSpc>
              <a:buAutoNum type="alphaUcPeriod"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GPS giving turn-by-turn directions to the mall.</a:t>
            </a:r>
          </a:p>
        </p:txBody>
      </p:sp>
    </p:spTree>
    <p:extLst>
      <p:ext uri="{BB962C8B-B14F-4D97-AF65-F5344CB8AC3E}">
        <p14:creationId xmlns:p14="http://schemas.microsoft.com/office/powerpoint/2010/main" val="25226979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C4735-E831-671A-8F00-A27693913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Algorithm?</a:t>
            </a:r>
            <a:endParaRPr lang="en-IN" b="1" dirty="0"/>
          </a:p>
        </p:txBody>
      </p:sp>
      <p:pic>
        <p:nvPicPr>
          <p:cNvPr id="1026" name="Picture 2" descr="What is Algorithm?">
            <a:extLst>
              <a:ext uri="{FF2B5EF4-FFF2-40B4-BE49-F238E27FC236}">
                <a16:creationId xmlns:a16="http://schemas.microsoft.com/office/drawing/2014/main" id="{9C1833D3-C975-1133-CBCA-A99DA4C7AAF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03" t="30131" r="3394" b="11614"/>
          <a:stretch/>
        </p:blipFill>
        <p:spPr bwMode="auto">
          <a:xfrm>
            <a:off x="1006733" y="2037144"/>
            <a:ext cx="9537804" cy="36774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1F25557-BE7D-9D77-D2D1-8CBC73E73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38042141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8DFA9-A073-11C0-8A84-A62C147C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F6F90-20A4-34B6-9789-47F35D205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Algorithm?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A1633C6-BEEB-8C76-E4BA-876D3D232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453" y="1478384"/>
            <a:ext cx="10515600" cy="4351338"/>
          </a:xfrm>
        </p:spPr>
        <p:txBody>
          <a:bodyPr/>
          <a:lstStyle/>
          <a:p>
            <a:pPr algn="just" rtl="0" fontAlgn="base">
              <a:spcAft>
                <a:spcPts val="75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An </a:t>
            </a: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algorithm </a:t>
            </a: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is a finite sequence of well-defined instructions that can be used to solve a computational problem. It provides a step-by-step procedure that convert an input into a desired output.</a:t>
            </a:r>
          </a:p>
          <a:p>
            <a:pPr algn="l" rtl="0" fontAlgn="base">
              <a:spcAft>
                <a:spcPts val="750"/>
              </a:spcAft>
            </a:pPr>
            <a:r>
              <a:rPr lang="en-US" b="0" i="0" dirty="0">
                <a:solidFill>
                  <a:srgbClr val="273239"/>
                </a:solidFill>
                <a:effectLst/>
                <a:latin typeface="Nunito" pitchFamily="2" charset="0"/>
              </a:rPr>
              <a:t>Algorithms typically follow a logical structure:</a:t>
            </a:r>
          </a:p>
          <a:p>
            <a:pPr lvl="1" fontAlgn="base">
              <a:spcAft>
                <a:spcPts val="1800"/>
              </a:spcAft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Input </a:t>
            </a:r>
          </a:p>
          <a:p>
            <a:pPr lvl="1" fontAlgn="base">
              <a:spcAft>
                <a:spcPts val="1800"/>
              </a:spcAft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Processing</a:t>
            </a:r>
            <a:endParaRPr lang="en-US" b="0" i="0" dirty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lvl="1" fontAlgn="base">
              <a:spcAft>
                <a:spcPts val="1800"/>
              </a:spcAft>
            </a:pPr>
            <a:r>
              <a:rPr lang="en-US" b="1" i="0" dirty="0">
                <a:solidFill>
                  <a:srgbClr val="273239"/>
                </a:solidFill>
                <a:effectLst/>
                <a:latin typeface="Nunito" pitchFamily="2" charset="0"/>
              </a:rPr>
              <a:t>Output</a:t>
            </a:r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B41C8-2C32-0282-FFBE-D0E9CC676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3656427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C3667-ECAB-74D6-F6C4-94749DF1F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Characteristics of an Algorithm</a:t>
            </a:r>
            <a:endParaRPr lang="en-IN" sz="36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16F978-4989-B856-E800-45C75206B4A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12483"/>
          <a:stretch>
            <a:fillRect/>
          </a:stretch>
        </p:blipFill>
        <p:spPr>
          <a:xfrm>
            <a:off x="2489046" y="1699591"/>
            <a:ext cx="7154273" cy="367670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713CC6-6A24-2060-5D17-068A96A82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53000" y="6584950"/>
            <a:ext cx="4114800" cy="365125"/>
          </a:xfrm>
        </p:spPr>
        <p:txBody>
          <a:bodyPr/>
          <a:lstStyle/>
          <a:p>
            <a:r>
              <a:rPr lang="en-IN" dirty="0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2462401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8299A-6AA7-0DCE-C88C-7F2957E2F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2E965-9758-5C2D-B49C-0EF971656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Pseudocode: Bridging Algorithm and Program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04304-F572-9D2D-0C45-45862186D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0962" y="1551839"/>
            <a:ext cx="9009853" cy="4351338"/>
          </a:xfrm>
        </p:spPr>
        <p:txBody>
          <a:bodyPr/>
          <a:lstStyle/>
          <a:p>
            <a:pPr algn="just" eaLnBrk="1" hangingPunct="1">
              <a:lnSpc>
                <a:spcPct val="100000"/>
              </a:lnSpc>
              <a:defRPr/>
            </a:pPr>
            <a:r>
              <a:rPr lang="en-US" dirty="0"/>
              <a:t>Pseudocode is a structured, English-like way to represent an algorithm.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dirty="0"/>
              <a:t>It focuses on logic, not syntax.</a:t>
            </a:r>
          </a:p>
          <a:p>
            <a:pPr algn="just" eaLnBrk="1" hangingPunct="1">
              <a:lnSpc>
                <a:spcPct val="150000"/>
              </a:lnSpc>
              <a:defRPr/>
            </a:pPr>
            <a:r>
              <a:rPr lang="en-US" dirty="0"/>
              <a:t>Language-independent and easy to understand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43D4A-02DA-3B36-C627-5A0AE288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8149" y="6492875"/>
            <a:ext cx="4114800" cy="365125"/>
          </a:xfrm>
        </p:spPr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Vandna Batra</a:t>
            </a:r>
          </a:p>
        </p:txBody>
      </p:sp>
    </p:spTree>
    <p:extLst>
      <p:ext uri="{BB962C8B-B14F-4D97-AF65-F5344CB8AC3E}">
        <p14:creationId xmlns:p14="http://schemas.microsoft.com/office/powerpoint/2010/main" val="18901566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EF9CF-8E03-D260-AA51-61712847C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903AB9-DFB3-35CA-C9FC-8BFA4FB4D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600" b="1" dirty="0"/>
              <a:t>Algorithm vs Pseudocode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87DC9A-B3D3-5895-7CEF-8F78BBEAF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08401" y="6572388"/>
            <a:ext cx="4114800" cy="365125"/>
          </a:xfrm>
        </p:spPr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Vandna Batra</a:t>
            </a:r>
          </a:p>
        </p:txBody>
      </p:sp>
      <p:graphicFrame>
        <p:nvGraphicFramePr>
          <p:cNvPr id="12" name="Content Placeholder 8">
            <a:extLst>
              <a:ext uri="{FF2B5EF4-FFF2-40B4-BE49-F238E27FC236}">
                <a16:creationId xmlns:a16="http://schemas.microsoft.com/office/drawing/2014/main" id="{146C31C9-7F37-FD6E-6F65-4B02EB689F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933300"/>
              </p:ext>
            </p:extLst>
          </p:nvPr>
        </p:nvGraphicFramePr>
        <p:xfrm>
          <a:off x="2305878" y="1421295"/>
          <a:ext cx="7076662" cy="2317041"/>
        </p:xfrm>
        <a:graphic>
          <a:graphicData uri="http://schemas.openxmlformats.org/drawingml/2006/table">
            <a:tbl>
              <a:tblPr/>
              <a:tblGrid>
                <a:gridCol w="3449153">
                  <a:extLst>
                    <a:ext uri="{9D8B030D-6E8A-4147-A177-3AD203B41FA5}">
                      <a16:colId xmlns:a16="http://schemas.microsoft.com/office/drawing/2014/main" val="3655851060"/>
                    </a:ext>
                  </a:extLst>
                </a:gridCol>
                <a:gridCol w="3627509">
                  <a:extLst>
                    <a:ext uri="{9D8B030D-6E8A-4147-A177-3AD203B41FA5}">
                      <a16:colId xmlns:a16="http://schemas.microsoft.com/office/drawing/2014/main" val="3044142337"/>
                    </a:ext>
                  </a:extLst>
                </a:gridCol>
              </a:tblGrid>
              <a:tr h="39766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baseline="0" dirty="0">
                          <a:solidFill>
                            <a:schemeClr val="tx1"/>
                          </a:solidFill>
                        </a:rPr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baseline="0" dirty="0">
                          <a:solidFill>
                            <a:schemeClr val="tx1"/>
                          </a:solidFill>
                        </a:rPr>
                        <a:t>Pseudocode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8153047"/>
                  </a:ext>
                </a:extLst>
              </a:tr>
              <a:tr h="59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aseline="0" dirty="0">
                          <a:solidFill>
                            <a:schemeClr val="tx1"/>
                          </a:solidFill>
                        </a:rPr>
                        <a:t>Conceptual steps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aseline="0">
                          <a:solidFill>
                            <a:schemeClr val="tx1"/>
                          </a:solidFill>
                        </a:rPr>
                        <a:t>Structured representation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9259085"/>
                  </a:ext>
                </a:extLst>
              </a:tr>
              <a:tr h="59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aseline="0" dirty="0">
                          <a:solidFill>
                            <a:schemeClr val="tx1"/>
                          </a:solidFill>
                        </a:rPr>
                        <a:t>Plain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aseline="0" dirty="0">
                          <a:solidFill>
                            <a:schemeClr val="tx1"/>
                          </a:solidFill>
                        </a:rPr>
                        <a:t>Semi-formal notation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9761162"/>
                  </a:ext>
                </a:extLst>
              </a:tr>
              <a:tr h="5996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aseline="0">
                          <a:solidFill>
                            <a:schemeClr val="tx1"/>
                          </a:solidFill>
                        </a:rPr>
                        <a:t>No standard format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aseline="0" dirty="0">
                          <a:solidFill>
                            <a:schemeClr val="tx1"/>
                          </a:solidFill>
                        </a:rPr>
                        <a:t>Common conventions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4545410"/>
                  </a:ext>
                </a:extLst>
              </a:tr>
            </a:tbl>
          </a:graphicData>
        </a:graphic>
      </p:graphicFrame>
      <p:sp>
        <p:nvSpPr>
          <p:cNvPr id="19" name="Speech Bubble: Oval 18">
            <a:extLst>
              <a:ext uri="{FF2B5EF4-FFF2-40B4-BE49-F238E27FC236}">
                <a16:creationId xmlns:a16="http://schemas.microsoft.com/office/drawing/2014/main" id="{6A00D818-775C-B5C9-A414-107424FD4951}"/>
              </a:ext>
            </a:extLst>
          </p:cNvPr>
          <p:cNvSpPr/>
          <p:nvPr/>
        </p:nvSpPr>
        <p:spPr>
          <a:xfrm>
            <a:off x="3578087" y="4303643"/>
            <a:ext cx="3498573" cy="1808922"/>
          </a:xfrm>
          <a:prstGeom prst="wedgeEllipse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5209CC-0996-322C-844F-3B62A292549D}"/>
              </a:ext>
            </a:extLst>
          </p:cNvPr>
          <p:cNvSpPr txBox="1"/>
          <p:nvPr/>
        </p:nvSpPr>
        <p:spPr>
          <a:xfrm>
            <a:off x="4263887" y="4621696"/>
            <a:ext cx="24152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Why do we not write algorithms directly in C++/Java first?”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7643030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419D1-7BE7-E741-A123-A1012BDB2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FCC54-04AA-86FB-755D-384A2B6785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Problem: </a:t>
            </a:r>
            <a:r>
              <a:rPr lang="en-IN" dirty="0"/>
              <a:t>Add two numbers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b="1" dirty="0"/>
              <a:t>Algorithm (natural language):</a:t>
            </a:r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Start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Read A, B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Compute C = A + B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Print C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dirty="0"/>
              <a:t>Stop</a:t>
            </a:r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991B1C-E39E-CFD5-C532-0A14D9FFC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10410071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E212B-C2C1-02F0-5191-8F9B131FCD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91F88-79BF-E61B-4580-6B4D735C7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F9BE1-B2ED-4B5F-A675-C3E3764518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078" y="1288912"/>
            <a:ext cx="10515600" cy="4351338"/>
          </a:xfrm>
        </p:spPr>
        <p:txBody>
          <a:bodyPr/>
          <a:lstStyle/>
          <a:p>
            <a:r>
              <a:rPr lang="en-IN" b="1" dirty="0"/>
              <a:t>Pseudocode: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35BA87-630D-29F9-593B-F4415071E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2EB4B81-69E5-5FCC-036A-7C9680E82F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0025" y="1842651"/>
            <a:ext cx="3452097" cy="31117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11F88D-2B52-092C-E175-CC50FD93E894}"/>
              </a:ext>
            </a:extLst>
          </p:cNvPr>
          <p:cNvSpPr txBox="1"/>
          <p:nvPr/>
        </p:nvSpPr>
        <p:spPr>
          <a:xfrm>
            <a:off x="1234937" y="5257006"/>
            <a:ext cx="73723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dirty="0"/>
              <a:t>This models </a:t>
            </a:r>
            <a:r>
              <a:rPr lang="en-US" sz="2800" i="1" dirty="0"/>
              <a:t>how thinking becomes structure</a:t>
            </a:r>
            <a:r>
              <a:rPr lang="en-US" sz="2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483062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DF138-5EA4-00E5-0457-85F3F4682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2478" y="355186"/>
            <a:ext cx="10515600" cy="1325563"/>
          </a:xfrm>
        </p:spPr>
        <p:txBody>
          <a:bodyPr/>
          <a:lstStyle/>
          <a:p>
            <a:r>
              <a:rPr lang="en-US" sz="3600" b="1" dirty="0"/>
              <a:t>Program: Implementation of an Algorithm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4EF4-219D-9455-3E15-2307FE17A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5582" y="1437999"/>
            <a:ext cx="10515600" cy="4351338"/>
          </a:xfrm>
        </p:spPr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A program is a coded version of an algorithm.</a:t>
            </a:r>
          </a:p>
          <a:p>
            <a:pPr>
              <a:lnSpc>
                <a:spcPct val="200000"/>
              </a:lnSpc>
            </a:pPr>
            <a:r>
              <a:rPr lang="en-US" dirty="0"/>
              <a:t>Written in a specific programming language.</a:t>
            </a:r>
          </a:p>
          <a:p>
            <a:pPr>
              <a:lnSpc>
                <a:spcPct val="200000"/>
              </a:lnSpc>
            </a:pPr>
            <a:r>
              <a:rPr lang="en-US" dirty="0"/>
              <a:t>Must follow strict syntax rules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FE8FB0-4C7C-B452-C862-886E9FB2F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12060319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BCEB3-A4D4-6E60-BF0C-244DD1E51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Program Example (Addition of two numbers)</a:t>
            </a:r>
            <a:endParaRPr lang="en-IN" sz="3600" b="1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2117C9-964C-4CA7-5DD2-0A2A521D30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1418" y="1289386"/>
            <a:ext cx="4710608" cy="4922571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36BEF1B-752B-24E6-8801-C69FF313A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14460" y="6589643"/>
            <a:ext cx="4114800" cy="268357"/>
          </a:xfrm>
        </p:spPr>
        <p:txBody>
          <a:bodyPr/>
          <a:lstStyle/>
          <a:p>
            <a:r>
              <a:rPr lang="en-IN" dirty="0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38874425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421DC-BF6D-DF76-B512-A334ADA556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1078" y="504273"/>
            <a:ext cx="10515600" cy="1325563"/>
          </a:xfrm>
        </p:spPr>
        <p:txBody>
          <a:bodyPr/>
          <a:lstStyle/>
          <a:p>
            <a:r>
              <a:rPr lang="en-IN" sz="3200" b="1" dirty="0"/>
              <a:t>Algorithm vs Program (Common Confusion)”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7BFE709-03BE-B511-30A4-4902A3D7982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242151"/>
              </p:ext>
            </p:extLst>
          </p:nvPr>
        </p:nvGraphicFramePr>
        <p:xfrm>
          <a:off x="1142999" y="1431234"/>
          <a:ext cx="6917635" cy="2683565"/>
        </p:xfrm>
        <a:graphic>
          <a:graphicData uri="http://schemas.openxmlformats.org/drawingml/2006/table">
            <a:tbl>
              <a:tblPr/>
              <a:tblGrid>
                <a:gridCol w="2582333">
                  <a:extLst>
                    <a:ext uri="{9D8B030D-6E8A-4147-A177-3AD203B41FA5}">
                      <a16:colId xmlns:a16="http://schemas.microsoft.com/office/drawing/2014/main" val="1175434107"/>
                    </a:ext>
                  </a:extLst>
                </a:gridCol>
                <a:gridCol w="4335302">
                  <a:extLst>
                    <a:ext uri="{9D8B030D-6E8A-4147-A177-3AD203B41FA5}">
                      <a16:colId xmlns:a16="http://schemas.microsoft.com/office/drawing/2014/main" val="1545693432"/>
                    </a:ext>
                  </a:extLst>
                </a:gridCol>
              </a:tblGrid>
              <a:tr h="8606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Algorithm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800" b="1" dirty="0"/>
                        <a:t>Program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7646353"/>
                  </a:ext>
                </a:extLst>
              </a:tr>
              <a:tr h="486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Step-by-step logic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Implementation in a language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2244848"/>
                  </a:ext>
                </a:extLst>
              </a:tr>
              <a:tr h="8506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Language-independent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Language-dependent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460972"/>
                  </a:ext>
                </a:extLst>
              </a:tr>
              <a:tr h="4861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Conceptual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dirty="0"/>
                        <a:t>Executable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032749"/>
                  </a:ext>
                </a:extLst>
              </a:tr>
            </a:tbl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490DB8-A6B9-B18C-AAC0-F39ABAB1B2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  <p:sp>
        <p:nvSpPr>
          <p:cNvPr id="6" name="Thought Bubble: Cloud 5">
            <a:extLst>
              <a:ext uri="{FF2B5EF4-FFF2-40B4-BE49-F238E27FC236}">
                <a16:creationId xmlns:a16="http://schemas.microsoft.com/office/drawing/2014/main" id="{7FB231B7-7382-BD79-A2C9-F913016EAF0F}"/>
              </a:ext>
            </a:extLst>
          </p:cNvPr>
          <p:cNvSpPr/>
          <p:nvPr/>
        </p:nvSpPr>
        <p:spPr>
          <a:xfrm>
            <a:off x="8319052" y="3836505"/>
            <a:ext cx="3737112" cy="1699591"/>
          </a:xfrm>
          <a:prstGeom prst="cloud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85F21F-9C6D-F479-C52A-40534317CCE3}"/>
              </a:ext>
            </a:extLst>
          </p:cNvPr>
          <p:cNvSpPr txBox="1"/>
          <p:nvPr/>
        </p:nvSpPr>
        <p:spPr>
          <a:xfrm>
            <a:off x="9114181" y="4025348"/>
            <a:ext cx="232575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“Can the same algorithm be written in C++, Java, and Python?”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987519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E6B49-87F1-21B8-859F-07B4019F4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Think–Pause </a:t>
            </a:r>
            <a:br>
              <a:rPr lang="en-IN" b="1" dirty="0"/>
            </a:b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C27EF-9E84-42D6-A41E-AA145298CE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en-US" sz="2400" dirty="0"/>
              <a:t>                    </a:t>
            </a:r>
            <a:r>
              <a:rPr lang="en-US" sz="3600" dirty="0"/>
              <a:t>“Can one algorithm have multiple programs?” Why?</a:t>
            </a:r>
            <a:endParaRPr lang="en-IN" sz="240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0FF54-A91C-63B4-22FB-8802A8B6D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25617" y="6565072"/>
            <a:ext cx="4114800" cy="365125"/>
          </a:xfrm>
        </p:spPr>
        <p:txBody>
          <a:bodyPr/>
          <a:lstStyle/>
          <a:p>
            <a:r>
              <a:rPr lang="en-IN" dirty="0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1090085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D6C44-9937-86CD-ACD9-F37BCC7B9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9DA76-F77D-FB70-8AB8-D125477DF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EC9100-EAD4-BC67-7479-A3AACC02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1551839"/>
            <a:ext cx="10316818" cy="4351338"/>
          </a:xfrm>
        </p:spPr>
        <p:txBody>
          <a:bodyPr/>
          <a:lstStyle/>
          <a:p>
            <a:pPr marL="0" indent="0" algn="just" eaLnBrk="1" hangingPunct="1">
              <a:buNone/>
              <a:defRPr/>
            </a:pPr>
            <a:r>
              <a:rPr lang="en-US" dirty="0"/>
              <a:t>1</a:t>
            </a:r>
            <a:r>
              <a:rPr lang="en-US" b="1" dirty="0"/>
              <a:t>. Finiteness</a:t>
            </a:r>
          </a:p>
          <a:p>
            <a:r>
              <a:rPr lang="en-US" b="1" dirty="0"/>
              <a:t>Property:</a:t>
            </a:r>
            <a:br>
              <a:rPr lang="en-US" dirty="0"/>
            </a:br>
            <a:r>
              <a:rPr lang="en-US" dirty="0"/>
              <a:t>An algorithm must terminate after a finite number of steps.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r>
              <a:rPr lang="en-US" dirty="0"/>
              <a:t>Algorithm: “Keep adding 1 to a number forever.”</a:t>
            </a:r>
          </a:p>
          <a:p>
            <a:pPr marL="0" indent="0">
              <a:buNone/>
            </a:pPr>
            <a:r>
              <a:rPr lang="en-US" dirty="0"/>
              <a:t>❌ This is </a:t>
            </a:r>
            <a:r>
              <a:rPr lang="en-US" b="1" dirty="0"/>
              <a:t>NOT</a:t>
            </a:r>
            <a:r>
              <a:rPr lang="en-US" dirty="0"/>
              <a:t> an algorithm because it </a:t>
            </a:r>
            <a:r>
              <a:rPr lang="en-US" b="1" dirty="0"/>
              <a:t>never stops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Valid Example:</a:t>
            </a:r>
            <a:endParaRPr lang="en-US" dirty="0"/>
          </a:p>
          <a:p>
            <a:r>
              <a:rPr lang="en-US" dirty="0"/>
              <a:t>“Add 1 to a number </a:t>
            </a:r>
            <a:r>
              <a:rPr lang="en-US" b="1" dirty="0"/>
              <a:t>10 times</a:t>
            </a:r>
            <a:r>
              <a:rPr lang="en-US" dirty="0"/>
              <a:t> and stop.”</a:t>
            </a:r>
          </a:p>
          <a:p>
            <a:pPr marL="0" indent="0">
              <a:buNone/>
            </a:pPr>
            <a:r>
              <a:rPr lang="en-US" dirty="0"/>
              <a:t>✅ Finite number of steps → </a:t>
            </a:r>
            <a:r>
              <a:rPr lang="en-US" b="1" dirty="0"/>
              <a:t>Valid algorithm</a:t>
            </a:r>
            <a:endParaRPr lang="en-US" dirty="0"/>
          </a:p>
          <a:p>
            <a:pPr algn="just" eaLnBrk="1" hangingPunct="1"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39F878-536B-3BD6-753A-50B1B96F2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5844" y="6602205"/>
            <a:ext cx="4114800" cy="365125"/>
          </a:xfrm>
        </p:spPr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Vandna Batra</a:t>
            </a:r>
          </a:p>
        </p:txBody>
      </p:sp>
    </p:spTree>
    <p:extLst>
      <p:ext uri="{BB962C8B-B14F-4D97-AF65-F5344CB8AC3E}">
        <p14:creationId xmlns:p14="http://schemas.microsoft.com/office/powerpoint/2010/main" val="9590570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3C322-FCA3-80CD-584D-80DAE6E25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043" y="355186"/>
            <a:ext cx="10515600" cy="1325563"/>
          </a:xfrm>
        </p:spPr>
        <p:txBody>
          <a:bodyPr/>
          <a:lstStyle/>
          <a:p>
            <a:r>
              <a:rPr lang="en-IN" b="1" dirty="0"/>
              <a:t>Think–Pause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F40A4-E92B-D239-8971-0E6491CD1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“ Does a loop without an exit condition is an algorithm?”</a:t>
            </a:r>
          </a:p>
          <a:p>
            <a:endParaRPr lang="en-US" dirty="0"/>
          </a:p>
          <a:p>
            <a:pPr marL="1371600" lvl="3" indent="0">
              <a:buNone/>
              <a:tabLst>
                <a:tab pos="4483100" algn="l"/>
              </a:tabLst>
            </a:pPr>
            <a:r>
              <a:rPr lang="en-US" sz="2400" dirty="0">
                <a:solidFill>
                  <a:srgbClr val="0070C0"/>
                </a:solidFill>
              </a:rPr>
              <a:t>START</a:t>
            </a:r>
          </a:p>
          <a:p>
            <a:pPr marL="1371600" lvl="3" indent="0">
              <a:buNone/>
              <a:tabLst>
                <a:tab pos="4483100" algn="l"/>
              </a:tabLst>
            </a:pP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 ← 1</a:t>
            </a:r>
          </a:p>
          <a:p>
            <a:pPr marL="1371600" lvl="3" indent="0">
              <a:buNone/>
              <a:tabLst>
                <a:tab pos="4483100" algn="l"/>
              </a:tabLst>
            </a:pPr>
            <a:r>
              <a:rPr lang="en-US" sz="2400" dirty="0">
                <a:solidFill>
                  <a:srgbClr val="0070C0"/>
                </a:solidFill>
              </a:rPr>
              <a:t>while (true) do</a:t>
            </a:r>
          </a:p>
          <a:p>
            <a:pPr marL="1371600" lvl="3" indent="0">
              <a:buNone/>
              <a:tabLst>
                <a:tab pos="4483100" algn="l"/>
              </a:tabLst>
            </a:pPr>
            <a:r>
              <a:rPr lang="en-US" sz="2400" dirty="0">
                <a:solidFill>
                  <a:srgbClr val="0070C0"/>
                </a:solidFill>
              </a:rPr>
              <a:t>    print 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endParaRPr lang="en-US" sz="2400" dirty="0">
              <a:solidFill>
                <a:srgbClr val="0070C0"/>
              </a:solidFill>
            </a:endParaRPr>
          </a:p>
          <a:p>
            <a:pPr marL="1371600" lvl="3" indent="0">
              <a:buNone/>
              <a:tabLst>
                <a:tab pos="4483100" algn="l"/>
              </a:tabLst>
            </a:pPr>
            <a:r>
              <a:rPr lang="en-US" sz="2400" dirty="0">
                <a:solidFill>
                  <a:srgbClr val="0070C0"/>
                </a:solidFill>
              </a:rPr>
              <a:t>    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 ← </a:t>
            </a:r>
            <a:r>
              <a:rPr lang="en-US" sz="2400" dirty="0" err="1">
                <a:solidFill>
                  <a:srgbClr val="0070C0"/>
                </a:solidFill>
              </a:rPr>
              <a:t>i</a:t>
            </a:r>
            <a:r>
              <a:rPr lang="en-US" sz="2400" dirty="0">
                <a:solidFill>
                  <a:srgbClr val="0070C0"/>
                </a:solidFill>
              </a:rPr>
              <a:t> + 1</a:t>
            </a:r>
          </a:p>
          <a:p>
            <a:pPr marL="1371600" lvl="3" indent="0">
              <a:buNone/>
              <a:tabLst>
                <a:tab pos="4483100" algn="l"/>
              </a:tabLst>
            </a:pPr>
            <a:r>
              <a:rPr lang="en-US" sz="2400" dirty="0">
                <a:solidFill>
                  <a:srgbClr val="0070C0"/>
                </a:solidFill>
              </a:rPr>
              <a:t>END while</a:t>
            </a:r>
          </a:p>
          <a:p>
            <a:pPr marL="1371600" lvl="3" indent="0">
              <a:buNone/>
              <a:tabLst>
                <a:tab pos="4483100" algn="l"/>
              </a:tabLst>
            </a:pPr>
            <a:r>
              <a:rPr lang="en-US" sz="2400" dirty="0">
                <a:solidFill>
                  <a:srgbClr val="0070C0"/>
                </a:solidFill>
              </a:rPr>
              <a:t>END</a:t>
            </a:r>
            <a:endParaRPr lang="en-IN" sz="2400" dirty="0">
              <a:solidFill>
                <a:srgbClr val="0070C0"/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6598E5-C7DB-B499-55E5-F449061FB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5126358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A8C40-B9CB-3AF9-3C0C-04055D9BE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28C0A-789F-9A7E-C694-4C80258B8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D4348-250B-6EA2-42C0-228E25244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653" y="1213909"/>
            <a:ext cx="10316818" cy="4351338"/>
          </a:xfrm>
        </p:spPr>
        <p:txBody>
          <a:bodyPr/>
          <a:lstStyle/>
          <a:p>
            <a:pPr marL="0" indent="0" algn="just">
              <a:buNone/>
              <a:defRPr/>
            </a:pPr>
            <a:r>
              <a:rPr lang="en-US" b="1" dirty="0"/>
              <a:t>2. </a:t>
            </a:r>
            <a:r>
              <a:rPr lang="en-IN" b="1" dirty="0"/>
              <a:t>Definiteness (Unambiguity)</a:t>
            </a:r>
            <a:endParaRPr lang="en-US" b="1" dirty="0"/>
          </a:p>
          <a:p>
            <a:r>
              <a:rPr lang="en-US" b="1" dirty="0"/>
              <a:t>Property:</a:t>
            </a:r>
            <a:br>
              <a:rPr lang="en-US" dirty="0"/>
            </a:br>
            <a:r>
              <a:rPr lang="en-US" dirty="0"/>
              <a:t>Each step of an algorithm must be clearly and precisely defined.</a:t>
            </a:r>
          </a:p>
          <a:p>
            <a:r>
              <a:rPr lang="en-US" b="1" dirty="0"/>
              <a:t>Example (Invalid):</a:t>
            </a:r>
            <a:endParaRPr lang="en-US" dirty="0"/>
          </a:p>
          <a:p>
            <a:r>
              <a:rPr lang="en-US" dirty="0"/>
              <a:t>Step: “</a:t>
            </a:r>
            <a:r>
              <a:rPr lang="en-US" altLang="en-US" dirty="0">
                <a:latin typeface="Arial" panose="020B0604020202020204" pitchFamily="34" charset="0"/>
              </a:rPr>
              <a:t>Add 5 or 6 to x</a:t>
            </a:r>
            <a:r>
              <a:rPr lang="en-US" dirty="0"/>
              <a:t>.”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              Unambiguous? </a:t>
            </a:r>
            <a:endParaRPr lang="en-US" dirty="0"/>
          </a:p>
          <a:p>
            <a:r>
              <a:rPr lang="en-US" b="1" dirty="0"/>
              <a:t>Valid Example:</a:t>
            </a:r>
            <a:r>
              <a:rPr lang="en-US" altLang="en-US" i="1" dirty="0">
                <a:latin typeface="Arial" panose="020B0604020202020204" pitchFamily="34" charset="0"/>
              </a:rPr>
              <a:t> :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en-US" altLang="en-US" dirty="0">
                <a:latin typeface="Arial" panose="020B0604020202020204" pitchFamily="34" charset="0"/>
              </a:rPr>
              <a:t>Ex1: "Add 5 to x" (Definite).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Ex2: “Add A and B, store the result in C.”</a:t>
            </a:r>
          </a:p>
          <a:p>
            <a:pPr marL="0" indent="0">
              <a:buNone/>
            </a:pPr>
            <a:r>
              <a:rPr lang="en-US" dirty="0"/>
              <a:t>✅ Clear and unambiguous</a:t>
            </a:r>
          </a:p>
          <a:p>
            <a:pPr marL="0" indent="0">
              <a:buNone/>
            </a:pPr>
            <a:endParaRPr lang="en-US" dirty="0"/>
          </a:p>
          <a:p>
            <a:pPr algn="just" eaLnBrk="1" hangingPunct="1">
              <a:defRPr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D6FCA-D9AC-0450-6EB1-E56841D77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25844" y="6602205"/>
            <a:ext cx="4114800" cy="365125"/>
          </a:xfrm>
        </p:spPr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Vandna Batra</a:t>
            </a:r>
          </a:p>
        </p:txBody>
      </p:sp>
    </p:spTree>
    <p:extLst>
      <p:ext uri="{BB962C8B-B14F-4D97-AF65-F5344CB8AC3E}">
        <p14:creationId xmlns:p14="http://schemas.microsoft.com/office/powerpoint/2010/main" val="6428203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75B2D7-69A2-8BDC-3FB8-90A808E920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Think–Pause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25CE4-A19F-0103-529B-A117EC29D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“Can two people interpret this step differently?”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                 Add A and B and store the result in C.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265A7-C400-12A2-C994-6B5D8D361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29363786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E6D6-5D86-956A-6F84-59C4F0C6A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248EB-A344-99E0-78D6-7729DD0AA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B5EC0E-F104-4171-4657-64366C414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15" y="1372935"/>
            <a:ext cx="11361517" cy="5057682"/>
          </a:xfrm>
        </p:spPr>
        <p:txBody>
          <a:bodyPr/>
          <a:lstStyle/>
          <a:p>
            <a:pPr marL="0" indent="0">
              <a:buNone/>
            </a:pPr>
            <a:r>
              <a:rPr lang="en-IN" b="1" dirty="0"/>
              <a:t>3. Input</a:t>
            </a:r>
          </a:p>
          <a:p>
            <a:r>
              <a:rPr lang="en-IN" b="1" dirty="0"/>
              <a:t>Property: </a:t>
            </a:r>
            <a:r>
              <a:rPr lang="en-IN" dirty="0"/>
              <a:t>An algorithm has zero or more well-defined inputs.</a:t>
            </a:r>
          </a:p>
          <a:p>
            <a:r>
              <a:rPr lang="en-IN" b="1" dirty="0"/>
              <a:t>Example: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   Algorithm: “Calculate the square of a number.”</a:t>
            </a:r>
          </a:p>
          <a:p>
            <a:pPr marL="457200" lvl="1" indent="0">
              <a:buNone/>
            </a:pPr>
            <a:r>
              <a:rPr lang="en-IN" dirty="0"/>
              <a:t>   Input: One number n</a:t>
            </a:r>
          </a:p>
          <a:p>
            <a:r>
              <a:rPr lang="en-IN" b="1" dirty="0"/>
              <a:t>Another Example:</a:t>
            </a:r>
            <a:endParaRPr lang="en-IN" dirty="0"/>
          </a:p>
          <a:p>
            <a:pPr marL="457200" lvl="1" indent="0">
              <a:buNone/>
            </a:pPr>
            <a:r>
              <a:rPr lang="en-IN" dirty="0"/>
              <a:t>   Algorithm: “Print ‘Hello World’.”</a:t>
            </a:r>
          </a:p>
          <a:p>
            <a:pPr marL="457200" lvl="1" indent="0">
              <a:buNone/>
            </a:pPr>
            <a:r>
              <a:rPr lang="en-IN" dirty="0"/>
              <a:t>   Input: </a:t>
            </a:r>
            <a:r>
              <a:rPr lang="en-IN" b="1" dirty="0"/>
              <a:t>None</a:t>
            </a:r>
            <a:r>
              <a:rPr lang="en-IN" dirty="0"/>
              <a:t> (zero input is allowed)</a:t>
            </a:r>
          </a:p>
          <a:p>
            <a:pPr lvl="1"/>
            <a:endParaRPr lang="en-IN" dirty="0"/>
          </a:p>
          <a:p>
            <a:pPr marL="0" indent="0">
              <a:buNone/>
            </a:pPr>
            <a:r>
              <a:rPr lang="en-IN" dirty="0"/>
              <a:t>➡️ Both satisfy the input property.</a:t>
            </a:r>
          </a:p>
          <a:p>
            <a:pPr algn="just" eaLnBrk="1" hangingPunct="1">
              <a:defRPr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E81217-6A00-2D0C-C2DC-E5F154F94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8149" y="6492875"/>
            <a:ext cx="4114800" cy="365125"/>
          </a:xfrm>
        </p:spPr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Vandna Batra</a:t>
            </a:r>
          </a:p>
        </p:txBody>
      </p:sp>
    </p:spTree>
    <p:extLst>
      <p:ext uri="{BB962C8B-B14F-4D97-AF65-F5344CB8AC3E}">
        <p14:creationId xmlns:p14="http://schemas.microsoft.com/office/powerpoint/2010/main" val="2230326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F1E8E-1F37-6A55-4294-F940AFCC0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3920-F562-BC5B-51AE-10EB1A92B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B786B-2135-11B4-6F7E-905BA6684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15" y="1372935"/>
            <a:ext cx="11361517" cy="505768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4</a:t>
            </a:r>
            <a:r>
              <a:rPr lang="en-IN" b="1" dirty="0"/>
              <a:t>. </a:t>
            </a:r>
            <a:r>
              <a:rPr lang="en-US" b="1" dirty="0"/>
              <a:t>Output</a:t>
            </a:r>
          </a:p>
          <a:p>
            <a:r>
              <a:rPr lang="en-US" b="1" dirty="0"/>
              <a:t>Property: </a:t>
            </a:r>
            <a:r>
              <a:rPr lang="en-US" dirty="0"/>
              <a:t>An algorithm must produce at least one output.</a:t>
            </a:r>
          </a:p>
          <a:p>
            <a:r>
              <a:rPr lang="en-US" b="1" dirty="0"/>
              <a:t>Example (Invalid):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Algorithm:</a:t>
            </a:r>
          </a:p>
          <a:p>
            <a:pPr marL="457200" lvl="1" indent="0">
              <a:buNone/>
            </a:pPr>
            <a:r>
              <a:rPr lang="en-US" dirty="0"/>
              <a:t> Reads numbers but </a:t>
            </a:r>
            <a:r>
              <a:rPr lang="en-US" b="1" dirty="0"/>
              <a:t>does not display or return anything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❌ No observable result</a:t>
            </a:r>
          </a:p>
          <a:p>
            <a:r>
              <a:rPr lang="en-US" b="1" dirty="0"/>
              <a:t>Valid Example:</a:t>
            </a:r>
            <a:endParaRPr lang="en-US" dirty="0"/>
          </a:p>
          <a:p>
            <a:r>
              <a:rPr lang="en-US" dirty="0"/>
              <a:t>Input: A, B</a:t>
            </a:r>
          </a:p>
          <a:p>
            <a:r>
              <a:rPr lang="en-US" dirty="0"/>
              <a:t>Output: Sum = A + B</a:t>
            </a:r>
          </a:p>
          <a:p>
            <a:pPr marL="0" indent="0">
              <a:buNone/>
            </a:pPr>
            <a:r>
              <a:rPr lang="en-US" dirty="0"/>
              <a:t>✅ Output is clearly defined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ED96C6-4943-2141-C630-9EB524179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8149" y="6492875"/>
            <a:ext cx="4114800" cy="365125"/>
          </a:xfrm>
        </p:spPr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Vandna Batra</a:t>
            </a:r>
          </a:p>
        </p:txBody>
      </p:sp>
    </p:spTree>
    <p:extLst>
      <p:ext uri="{BB962C8B-B14F-4D97-AF65-F5344CB8AC3E}">
        <p14:creationId xmlns:p14="http://schemas.microsoft.com/office/powerpoint/2010/main" val="1734823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C6F0B-BE09-6EB8-FF3E-387FBD073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635408-3CDF-BC6E-956D-816E9564B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B28C8-449B-210F-5319-2F705DAFD8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15" y="1372935"/>
            <a:ext cx="11361517" cy="505768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5. Effectiveness</a:t>
            </a:r>
          </a:p>
          <a:p>
            <a:r>
              <a:rPr lang="en-US" b="1" dirty="0"/>
              <a:t>Property:</a:t>
            </a:r>
            <a:br>
              <a:rPr lang="en-US" dirty="0"/>
            </a:br>
            <a:r>
              <a:rPr lang="en-US" dirty="0"/>
              <a:t>All operations must be basic and executable in finite time.</a:t>
            </a:r>
          </a:p>
          <a:p>
            <a:r>
              <a:rPr lang="en-US" b="1" dirty="0"/>
              <a:t>Example (Invalid):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Step: “Sort the numbers instantly.”</a:t>
            </a:r>
          </a:p>
          <a:p>
            <a:pPr marL="457200" lvl="1" indent="0">
              <a:buNone/>
            </a:pPr>
            <a:r>
              <a:rPr lang="en-US" dirty="0"/>
              <a:t>❌ “Instantly” is not realistic or defined</a:t>
            </a:r>
          </a:p>
          <a:p>
            <a:endParaRPr lang="en-US" dirty="0"/>
          </a:p>
          <a:p>
            <a:r>
              <a:rPr lang="en-US" b="1" dirty="0"/>
              <a:t>Valid Example: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Step: “Compare two elements and swap if needed.”</a:t>
            </a:r>
          </a:p>
          <a:p>
            <a:pPr marL="457200" lvl="1" indent="0">
              <a:buNone/>
            </a:pPr>
            <a:r>
              <a:rPr lang="en-US" dirty="0"/>
              <a:t>✅ Basic and feasible operation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317EAD-84D6-BDD3-AFEB-C3FF57AF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8149" y="6492875"/>
            <a:ext cx="4114800" cy="365125"/>
          </a:xfrm>
        </p:spPr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Vandna Batra</a:t>
            </a:r>
          </a:p>
        </p:txBody>
      </p:sp>
    </p:spTree>
    <p:extLst>
      <p:ext uri="{BB962C8B-B14F-4D97-AF65-F5344CB8AC3E}">
        <p14:creationId xmlns:p14="http://schemas.microsoft.com/office/powerpoint/2010/main" val="12805159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17099-B994-1E67-6839-869247106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4AB4-31FA-8AC4-4D00-26CCA7456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C1364E-FAA8-F7EF-D1DD-CF3E43A5EB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15" y="1372935"/>
            <a:ext cx="11361517" cy="505768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6. </a:t>
            </a:r>
            <a:r>
              <a:rPr lang="en-US" b="1" dirty="0"/>
              <a:t>Feasibility</a:t>
            </a:r>
          </a:p>
          <a:p>
            <a:r>
              <a:rPr lang="en-US" b="1" dirty="0"/>
              <a:t>Property:</a:t>
            </a:r>
            <a:br>
              <a:rPr lang="en-US" dirty="0"/>
            </a:br>
            <a:r>
              <a:rPr lang="en-US" dirty="0"/>
              <a:t>The algorithm must be practical with available resources.</a:t>
            </a:r>
          </a:p>
          <a:p>
            <a:r>
              <a:rPr lang="en-US" b="1" dirty="0"/>
              <a:t>Example (Invalid):</a:t>
            </a:r>
            <a:endParaRPr lang="en-US" dirty="0"/>
          </a:p>
          <a:p>
            <a:pPr lvl="1"/>
            <a:r>
              <a:rPr lang="en-US" dirty="0"/>
              <a:t>Algorithm requires </a:t>
            </a:r>
            <a:r>
              <a:rPr lang="en-US" b="1" dirty="0"/>
              <a:t>10 TB of memory</a:t>
            </a:r>
            <a:r>
              <a:rPr lang="en-US" dirty="0"/>
              <a:t> on a normal computer</a:t>
            </a:r>
          </a:p>
          <a:p>
            <a:pPr marL="457200" lvl="1" indent="0">
              <a:buNone/>
            </a:pPr>
            <a:r>
              <a:rPr lang="en-US" dirty="0"/>
              <a:t>❌ Not feasible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b="1" dirty="0"/>
              <a:t>Valid Example:</a:t>
            </a:r>
            <a:endParaRPr lang="en-US" dirty="0"/>
          </a:p>
          <a:p>
            <a:pPr lvl="1"/>
            <a:r>
              <a:rPr lang="en-US" dirty="0"/>
              <a:t>Algorithm sorts 100 numbers using available memory</a:t>
            </a:r>
          </a:p>
          <a:p>
            <a:pPr marL="457200" lvl="1" indent="0">
              <a:buNone/>
            </a:pPr>
            <a:r>
              <a:rPr lang="en-US" dirty="0"/>
              <a:t>✅ Feasible with real systems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CF18F1-8331-6B9A-278F-1F996905F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8149" y="6492875"/>
            <a:ext cx="4114800" cy="365125"/>
          </a:xfrm>
        </p:spPr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Vandna Batra</a:t>
            </a:r>
          </a:p>
        </p:txBody>
      </p:sp>
    </p:spTree>
    <p:extLst>
      <p:ext uri="{BB962C8B-B14F-4D97-AF65-F5344CB8AC3E}">
        <p14:creationId xmlns:p14="http://schemas.microsoft.com/office/powerpoint/2010/main" val="39472865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16188-59D7-66B5-F8EB-BDFF32812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FE0C4-0234-B008-DE88-887442B28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Properties of Algorithm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B8C01-26C0-0C0D-6962-816D59155F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4615" y="1372935"/>
            <a:ext cx="11361517" cy="505768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7. Independence (Language Independent)</a:t>
            </a:r>
          </a:p>
          <a:p>
            <a:r>
              <a:rPr lang="en-US" b="1" dirty="0"/>
              <a:t>Property:</a:t>
            </a:r>
            <a:br>
              <a:rPr lang="en-US" dirty="0"/>
            </a:br>
            <a:r>
              <a:rPr lang="en-US" dirty="0"/>
              <a:t>An algorithm should not depend on any specific programming language.</a:t>
            </a:r>
          </a:p>
          <a:p>
            <a:r>
              <a:rPr lang="en-US" b="1" dirty="0"/>
              <a:t>Example:</a:t>
            </a:r>
            <a:endParaRPr lang="en-US" dirty="0"/>
          </a:p>
          <a:p>
            <a:pPr lvl="1"/>
            <a:r>
              <a:rPr lang="en-US" dirty="0"/>
              <a:t>Algorithm written in </a:t>
            </a:r>
            <a:r>
              <a:rPr lang="en-US" b="1" dirty="0"/>
              <a:t>plain English or pseudocode</a:t>
            </a:r>
            <a:endParaRPr lang="en-US" dirty="0"/>
          </a:p>
          <a:p>
            <a:pPr lvl="1"/>
            <a:r>
              <a:rPr lang="en-US" dirty="0"/>
              <a:t>Same steps can be coded in </a:t>
            </a:r>
            <a:r>
              <a:rPr lang="en-US" b="1" dirty="0"/>
              <a:t>C++, Java, or Python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➡️ Logic remains the same, only syntax changes.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F6109D-7CA9-5236-02F7-6BEF10C635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8149" y="6492875"/>
            <a:ext cx="4114800" cy="365125"/>
          </a:xfrm>
        </p:spPr>
        <p:txBody>
          <a:bodyPr/>
          <a:lstStyle/>
          <a:p>
            <a:r>
              <a:rPr lang="en-IN" dirty="0" err="1"/>
              <a:t>Dr.</a:t>
            </a:r>
            <a:r>
              <a:rPr lang="en-IN" dirty="0"/>
              <a:t> Vandna Batra</a:t>
            </a:r>
          </a:p>
        </p:txBody>
      </p:sp>
    </p:spTree>
    <p:extLst>
      <p:ext uri="{BB962C8B-B14F-4D97-AF65-F5344CB8AC3E}">
        <p14:creationId xmlns:p14="http://schemas.microsoft.com/office/powerpoint/2010/main" val="34072705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A1AE2-BA23-4B17-5DBE-5AE7DC457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C8F38-3F48-F93A-BD7B-A10828069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Your Knowledge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D8005-60BE-B3B1-FC9B-7E4D9C65E5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29" y="1501532"/>
            <a:ext cx="10544536" cy="5258081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1. Which of the following best defines an algorithm?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(A) A set of rules for solving a problem in a finite amount of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(B) A computer program written in a high-level language.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(C) A flowchart describing a problem.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(D) A mathematical formula.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04876A-BBD3-5AEC-107F-DE10BEB9A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10983590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70E16-4497-2685-6D42-51E2361EE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F5961-8D40-D656-9274-08B9F90E5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Your Knowledge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CBACB-4C2E-C189-7A90-BDBF51814C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229" y="1501532"/>
            <a:ext cx="10544536" cy="525808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Q) If an algorithm runs forever, which property does it violate?</a:t>
            </a:r>
          </a:p>
          <a:p>
            <a:pPr marL="0" indent="0">
              <a:buNone/>
            </a:pPr>
            <a:r>
              <a:rPr lang="en-IN" dirty="0"/>
              <a:t>Answer: Finiteness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Q)</a:t>
            </a:r>
            <a:r>
              <a:rPr lang="en-US" b="1" dirty="0"/>
              <a:t> True or False:</a:t>
            </a:r>
          </a:p>
          <a:p>
            <a:r>
              <a:rPr lang="en-US" b="1" dirty="0"/>
              <a:t>Statement:</a:t>
            </a:r>
            <a:r>
              <a:rPr lang="en-US" dirty="0"/>
              <a:t> Pseudocode is a formal programming language that a computer can execute directly.</a:t>
            </a:r>
          </a:p>
          <a:p>
            <a:pPr marL="0" indent="0">
              <a:buNone/>
            </a:pPr>
            <a:r>
              <a:rPr lang="en-US" dirty="0"/>
              <a:t>Answer: False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Q) “Is recursion violating finiteness? Why or why not?”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8DA880-8275-D204-D516-FE4D5067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3446152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B842-B2FC-0320-56BC-B15641FE4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Test Your Knowledge</a:t>
            </a:r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822AA9-085A-384C-10EC-F6FBEF273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5313" y="6565072"/>
            <a:ext cx="4114800" cy="365125"/>
          </a:xfrm>
        </p:spPr>
        <p:txBody>
          <a:bodyPr/>
          <a:lstStyle/>
          <a:p>
            <a:r>
              <a:rPr lang="en-IN" dirty="0"/>
              <a:t>Dr. Vandna Batra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D51FD21-308C-EDD7-9F7A-E095D8526E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0208" y="1692297"/>
            <a:ext cx="10422835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Q) If a procedure for calculating prime numbers is correct but never stops running, which property of an algorithm does it violate?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Input.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Finiteness.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Output.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D.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Effectiveness.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/>
              <a:t>Answer: Finiteness.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066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59D5D-5D47-1D97-D1D6-2845D2AFC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F3A0A-0EAA-79C4-FEF5-D1BE79E77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Session 1 Summary: Foundations of Algorithms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BE35C-28C2-CD5E-F70F-833B5305A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3" y="1119567"/>
            <a:ext cx="11470511" cy="5258081"/>
          </a:xfrm>
        </p:spPr>
        <p:txBody>
          <a:bodyPr/>
          <a:lstStyle/>
          <a:p>
            <a:pPr marL="0" indent="0" algn="just">
              <a:buNone/>
            </a:pPr>
            <a:r>
              <a:rPr lang="en-IN" dirty="0"/>
              <a:t>1. What is an Algorithm?</a:t>
            </a:r>
          </a:p>
          <a:p>
            <a:pPr marL="0" indent="0" algn="just">
              <a:buNone/>
            </a:pPr>
            <a:r>
              <a:rPr lang="en-US" dirty="0"/>
              <a:t>          Input -&gt;Processing -&gt;Output.</a:t>
            </a:r>
          </a:p>
          <a:p>
            <a:pPr marL="0" indent="0">
              <a:buNone/>
            </a:pPr>
            <a:r>
              <a:rPr lang="en-US" b="1" dirty="0"/>
              <a:t>2. The Logic Bridge (Key Distinction)</a:t>
            </a:r>
            <a:endParaRPr lang="en-US" dirty="0"/>
          </a:p>
          <a:p>
            <a:pPr lvl="2"/>
            <a:r>
              <a:rPr lang="en-US" sz="2400" b="1" dirty="0"/>
              <a:t>Algorithm:</a:t>
            </a:r>
            <a:r>
              <a:rPr lang="en-US" sz="2400" dirty="0"/>
              <a:t> The abstract logic (The Recipe).</a:t>
            </a:r>
          </a:p>
          <a:p>
            <a:pPr lvl="2"/>
            <a:r>
              <a:rPr lang="en-US" sz="2400" b="1" dirty="0"/>
              <a:t>Pseudocode:</a:t>
            </a:r>
            <a:r>
              <a:rPr lang="en-US" sz="2400" dirty="0"/>
              <a:t> Structured English blueprint (The Instructions).</a:t>
            </a:r>
          </a:p>
          <a:p>
            <a:pPr lvl="2"/>
            <a:r>
              <a:rPr lang="en-US" sz="2400" b="1" dirty="0"/>
              <a:t>Program</a:t>
            </a:r>
            <a:r>
              <a:rPr lang="en-US" b="1" dirty="0"/>
              <a:t>:</a:t>
            </a:r>
            <a:r>
              <a:rPr lang="en-US" dirty="0"/>
              <a:t> Executable code in C++/Java (The Actual Dish).</a:t>
            </a:r>
          </a:p>
          <a:p>
            <a:pPr lvl="2"/>
            <a:endParaRPr lang="en-US" dirty="0"/>
          </a:p>
          <a:p>
            <a:pPr marL="0" indent="0">
              <a:buNone/>
              <a:tabLst>
                <a:tab pos="4929188" algn="l"/>
              </a:tabLst>
            </a:pPr>
            <a:r>
              <a:rPr lang="en-IN" dirty="0"/>
              <a:t>3. The 5 Essential Properties (F-D-I-O-E)</a:t>
            </a:r>
          </a:p>
          <a:p>
            <a:pPr>
              <a:tabLst>
                <a:tab pos="4929188" algn="l"/>
              </a:tabLst>
            </a:pPr>
            <a:endParaRPr lang="en-IN" dirty="0"/>
          </a:p>
          <a:p>
            <a:pPr>
              <a:tabLst>
                <a:tab pos="4929188" algn="l"/>
              </a:tabLst>
            </a:pPr>
            <a:r>
              <a:rPr lang="en-US" b="1" dirty="0"/>
              <a:t>4. The "Golden Rule"</a:t>
            </a:r>
            <a:r>
              <a:rPr lang="en-US" dirty="0"/>
              <a:t> An algorithm is </a:t>
            </a:r>
            <a:r>
              <a:rPr lang="en-US" b="1" dirty="0"/>
              <a:t>Language Independent</a:t>
            </a:r>
            <a:r>
              <a:rPr lang="en-US" dirty="0"/>
              <a:t>. We design the logic first to ensure efficiency and clarity before writing a single line of C++ or Java code.</a:t>
            </a:r>
            <a:endParaRPr lang="en-IN" dirty="0"/>
          </a:p>
          <a:p>
            <a:pPr>
              <a:tabLst>
                <a:tab pos="4929188" algn="l"/>
              </a:tabLst>
            </a:pPr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E77709-FD52-C0E6-E309-CFBD1E6F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470" y="6565072"/>
            <a:ext cx="4114800" cy="365125"/>
          </a:xfrm>
        </p:spPr>
        <p:txBody>
          <a:bodyPr/>
          <a:lstStyle/>
          <a:p>
            <a:r>
              <a:rPr lang="en-IN" dirty="0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2832494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0A7EB-F885-16EA-EAFC-542FB7FAB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DAD0D-0E6E-80EA-507B-E8300B17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References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92C13-0F71-B43F-BEDD-A6E28C5BE6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5113" y="1119567"/>
            <a:ext cx="11470511" cy="5258081"/>
          </a:xfrm>
        </p:spPr>
        <p:txBody>
          <a:bodyPr/>
          <a:lstStyle/>
          <a:p>
            <a:r>
              <a:rPr lang="en-IN" b="1" dirty="0"/>
              <a:t>Textbooks</a:t>
            </a:r>
            <a:endParaRPr lang="en-IN" dirty="0"/>
          </a:p>
          <a:p>
            <a:pPr marL="452438" indent="-276225">
              <a:buFont typeface="Wingdings" panose="05000000000000000000" pitchFamily="2" charset="2"/>
              <a:buChar char="Ø"/>
            </a:pPr>
            <a:r>
              <a:rPr lang="en-IN" b="1" dirty="0"/>
              <a:t>Ellis Horowitz, Sartaj Sahni, </a:t>
            </a:r>
            <a:r>
              <a:rPr lang="en-IN" b="1" dirty="0" err="1"/>
              <a:t>Sanguthevar</a:t>
            </a:r>
            <a:r>
              <a:rPr lang="en-IN" b="1" dirty="0"/>
              <a:t> Rajasekaran</a:t>
            </a:r>
            <a:r>
              <a:rPr lang="en-IN" dirty="0"/>
              <a:t> – </a:t>
            </a:r>
            <a:r>
              <a:rPr lang="en-IN" i="1" dirty="0"/>
              <a:t>Fundamentals of Computer Algorithms</a:t>
            </a:r>
            <a:endParaRPr lang="en-IN" dirty="0"/>
          </a:p>
          <a:p>
            <a:pPr marL="452438" indent="-276225">
              <a:buFont typeface="Wingdings" panose="05000000000000000000" pitchFamily="2" charset="2"/>
              <a:buChar char="Ø"/>
            </a:pPr>
            <a:r>
              <a:rPr lang="en-IN" b="1" dirty="0" err="1"/>
              <a:t>Cormen</a:t>
            </a:r>
            <a:r>
              <a:rPr lang="en-IN" b="1" dirty="0"/>
              <a:t>, </a:t>
            </a:r>
            <a:r>
              <a:rPr lang="en-IN" b="1" dirty="0" err="1"/>
              <a:t>Leiserson</a:t>
            </a:r>
            <a:r>
              <a:rPr lang="en-IN" b="1" dirty="0"/>
              <a:t>, Rivest, Stein (CLRS)</a:t>
            </a:r>
            <a:r>
              <a:rPr lang="en-IN" dirty="0"/>
              <a:t> – </a:t>
            </a:r>
            <a:r>
              <a:rPr lang="en-IN" i="1" dirty="0"/>
              <a:t>Introduction </a:t>
            </a:r>
            <a:r>
              <a:rPr lang="en-IN" i="1"/>
              <a:t>to Algorithms</a:t>
            </a:r>
          </a:p>
          <a:p>
            <a:pPr marL="176213" indent="0">
              <a:buNone/>
            </a:pPr>
            <a:endParaRPr lang="en-IN" dirty="0"/>
          </a:p>
          <a:p>
            <a:r>
              <a:rPr lang="en-IN" b="1" dirty="0"/>
              <a:t>Online Resources</a:t>
            </a:r>
            <a:endParaRPr lang="en-IN" dirty="0"/>
          </a:p>
          <a:p>
            <a:pPr lvl="1" algn="just"/>
            <a:r>
              <a:rPr lang="en-US" dirty="0"/>
              <a:t>MIT </a:t>
            </a:r>
            <a:r>
              <a:rPr lang="en-US" dirty="0" err="1"/>
              <a:t>OpenCourseWare</a:t>
            </a:r>
            <a:r>
              <a:rPr lang="en-US" dirty="0"/>
              <a:t>: Introduction to Algorithms (</a:t>
            </a:r>
            <a:r>
              <a:rPr lang="en-US" dirty="0">
                <a:hlinkClick r:id="rId2"/>
              </a:rPr>
              <a:t>ocw.mit.edu)</a:t>
            </a:r>
            <a:endParaRPr lang="en-US" dirty="0"/>
          </a:p>
          <a:p>
            <a:pPr lvl="1" algn="just"/>
            <a:r>
              <a:rPr lang="en-US" b="1" dirty="0" err="1"/>
              <a:t>GeeksforGeeks</a:t>
            </a:r>
            <a:r>
              <a:rPr lang="en-US" b="1" dirty="0"/>
              <a:t>: </a:t>
            </a:r>
            <a:r>
              <a:rPr lang="en-US" sz="2000" dirty="0">
                <a:hlinkClick r:id="rId3"/>
              </a:rPr>
              <a:t>What is an Algorithm | Introduction to Algorithms - </a:t>
            </a:r>
            <a:r>
              <a:rPr lang="en-US" sz="2000" dirty="0" err="1">
                <a:hlinkClick r:id="rId3"/>
              </a:rPr>
              <a:t>GeeksforGeeks</a:t>
            </a:r>
            <a:endParaRPr lang="en-US" sz="2000" i="1" dirty="0"/>
          </a:p>
          <a:p>
            <a:pPr algn="just"/>
            <a:endParaRPr lang="en-US" dirty="0"/>
          </a:p>
          <a:p>
            <a:pPr algn="jus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CDC5FB-A115-D2F4-96A1-EA7C27B64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386470" y="6565072"/>
            <a:ext cx="4114800" cy="365125"/>
          </a:xfrm>
        </p:spPr>
        <p:txBody>
          <a:bodyPr/>
          <a:lstStyle/>
          <a:p>
            <a:r>
              <a:rPr lang="en-IN" dirty="0"/>
              <a:t>Dr. Vandna Batra</a:t>
            </a:r>
          </a:p>
        </p:txBody>
      </p:sp>
    </p:spTree>
    <p:extLst>
      <p:ext uri="{BB962C8B-B14F-4D97-AF65-F5344CB8AC3E}">
        <p14:creationId xmlns:p14="http://schemas.microsoft.com/office/powerpoint/2010/main" val="385650672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5DEAC-FE6B-64ED-1693-07E081895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7430"/>
          </a:xfrm>
        </p:spPr>
        <p:txBody>
          <a:bodyPr/>
          <a:lstStyle/>
          <a:p>
            <a:r>
              <a:rPr lang="en-IN" sz="4000" b="1">
                <a:latin typeface="+mn-lt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61EE4-7BDC-8BB8-9B25-7D28DC66A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6516"/>
            <a:ext cx="10515600" cy="4800447"/>
          </a:xfrm>
        </p:spPr>
        <p:txBody>
          <a:bodyPr/>
          <a:lstStyle/>
          <a:p>
            <a:r>
              <a:rPr lang="en-IN" sz="2000" b="1" dirty="0"/>
              <a:t>Textbooks</a:t>
            </a:r>
            <a:endParaRPr lang="en-IN" sz="2000" dirty="0"/>
          </a:p>
          <a:p>
            <a:pPr marL="452438" indent="-276225">
              <a:buFont typeface="Wingdings" panose="05000000000000000000" pitchFamily="2" charset="2"/>
              <a:buChar char="Ø"/>
            </a:pPr>
            <a:r>
              <a:rPr lang="en-IN" sz="2000" b="1" dirty="0"/>
              <a:t>Ellis Horowitz, Sartaj Sahni, </a:t>
            </a:r>
            <a:r>
              <a:rPr lang="en-IN" sz="2000" b="1" dirty="0" err="1"/>
              <a:t>Sanguthevar</a:t>
            </a:r>
            <a:r>
              <a:rPr lang="en-IN" sz="2000" b="1" dirty="0"/>
              <a:t> Rajasekaran</a:t>
            </a:r>
            <a:r>
              <a:rPr lang="en-IN" sz="2000" dirty="0"/>
              <a:t> – </a:t>
            </a:r>
            <a:r>
              <a:rPr lang="en-IN" sz="2000" i="1" dirty="0"/>
              <a:t>Fundamentals of Computer Algorithms</a:t>
            </a:r>
            <a:endParaRPr lang="en-IN" sz="2000" dirty="0"/>
          </a:p>
          <a:p>
            <a:pPr marL="452438" indent="-276225">
              <a:buFont typeface="Wingdings" panose="05000000000000000000" pitchFamily="2" charset="2"/>
              <a:buChar char="Ø"/>
            </a:pPr>
            <a:r>
              <a:rPr lang="en-IN" sz="2000" b="1" dirty="0" err="1"/>
              <a:t>Cormen</a:t>
            </a:r>
            <a:r>
              <a:rPr lang="en-IN" sz="2000" b="1" dirty="0"/>
              <a:t>, </a:t>
            </a:r>
            <a:r>
              <a:rPr lang="en-IN" sz="2000" b="1" dirty="0" err="1"/>
              <a:t>Leiserson</a:t>
            </a:r>
            <a:r>
              <a:rPr lang="en-IN" sz="2000" b="1" dirty="0"/>
              <a:t>, Rivest, Stein (CLRS)</a:t>
            </a:r>
            <a:r>
              <a:rPr lang="en-IN" sz="2000" dirty="0"/>
              <a:t> – </a:t>
            </a:r>
            <a:r>
              <a:rPr lang="en-IN" sz="2000" i="1" dirty="0"/>
              <a:t>Introduction to Algorithms</a:t>
            </a:r>
            <a:endParaRPr lang="en-IN" sz="2000" dirty="0"/>
          </a:p>
          <a:p>
            <a:r>
              <a:rPr lang="en-IN" sz="2000" b="1" dirty="0"/>
              <a:t>Online Resources</a:t>
            </a:r>
            <a:endParaRPr lang="en-IN" sz="2000" dirty="0"/>
          </a:p>
          <a:p>
            <a:pPr marL="452438" indent="-276225">
              <a:buFont typeface="Wingdings" panose="05000000000000000000" pitchFamily="2" charset="2"/>
              <a:buChar char="Ø"/>
            </a:pPr>
            <a:r>
              <a:rPr lang="en-IN" sz="2000" b="1" dirty="0"/>
              <a:t>MIT </a:t>
            </a:r>
            <a:r>
              <a:rPr lang="en-IN" sz="2000" b="1" dirty="0" err="1"/>
              <a:t>OpenCourseWare</a:t>
            </a:r>
            <a:r>
              <a:rPr lang="en-IN" sz="2000" b="1" dirty="0"/>
              <a:t> – Introduction to Algorithms</a:t>
            </a:r>
            <a:br>
              <a:rPr lang="en-IN" sz="2000" dirty="0"/>
            </a:br>
            <a:r>
              <a:rPr lang="en-IN" sz="2000" dirty="0">
                <a:hlinkClick r:id="rId2"/>
              </a:rPr>
              <a:t>https://ocw.mit.edu/courses/electrical-engineering-and-computer-science/6-046j-introduction-to-algorithms/</a:t>
            </a:r>
            <a:endParaRPr lang="en-IN" sz="2000" dirty="0"/>
          </a:p>
          <a:p>
            <a:pPr marL="452438" indent="-276225">
              <a:buFont typeface="Wingdings" panose="05000000000000000000" pitchFamily="2" charset="2"/>
              <a:buChar char="Ø"/>
            </a:pPr>
            <a:r>
              <a:rPr lang="en-IN" sz="2000" b="1" dirty="0" err="1"/>
              <a:t>GeeksforGeeks</a:t>
            </a:r>
            <a:r>
              <a:rPr lang="en-IN" sz="2000" b="1" dirty="0"/>
              <a:t> – </a:t>
            </a:r>
            <a:r>
              <a:rPr lang="en-IN" sz="2000" b="1" dirty="0">
                <a:hlinkClick r:id="rId3"/>
              </a:rPr>
              <a:t>https://www.geeksforgeeks.org/dsa/introduction-to-algorithms/</a:t>
            </a:r>
            <a:endParaRPr lang="en-IN" sz="2000" b="1" dirty="0"/>
          </a:p>
          <a:p>
            <a:pPr marL="452438" indent="-276225">
              <a:buFont typeface="Wingdings" panose="05000000000000000000" pitchFamily="2" charset="2"/>
              <a:buChar char="Ø"/>
            </a:pPr>
            <a:endParaRPr lang="en-IN" sz="2000" dirty="0"/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6048315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144059"/>
      </p:ext>
    </p:extLst>
  </p:cSld>
  <p:clrMapOvr>
    <a:masterClrMapping/>
  </p:clrMapOvr>
  <p:transition>
    <p:wipe/>
  </p:transition>
</p:sld>
</file>

<file path=ppt/theme/theme1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3_Office Theme">
  <a:themeElements>
    <a:clrScheme name="Custom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06ED0382BA6B4D9E5A4E0EF86C37D0" ma:contentTypeVersion="15" ma:contentTypeDescription="Create a new document." ma:contentTypeScope="" ma:versionID="9e12d6ecb6c67c0f888f0b99bd66d2a3">
  <xsd:schema xmlns:xsd="http://www.w3.org/2001/XMLSchema" xmlns:xs="http://www.w3.org/2001/XMLSchema" xmlns:p="http://schemas.microsoft.com/office/2006/metadata/properties" xmlns:ns3="f377475b-78f7-476e-bbc6-8b108d08bf3e" xmlns:ns4="524ba03a-1742-4881-9315-f1404d60b437" targetNamespace="http://schemas.microsoft.com/office/2006/metadata/properties" ma:root="true" ma:fieldsID="ad4cf71da88eba12436a6f6131eab5f1" ns3:_="" ns4:_="">
    <xsd:import namespace="f377475b-78f7-476e-bbc6-8b108d08bf3e"/>
    <xsd:import namespace="524ba03a-1742-4881-9315-f1404d60b43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GenerationTime" minOccurs="0"/>
                <xsd:element ref="ns3:MediaServiceEventHashCode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LengthInSecond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77475b-78f7-476e-bbc6-8b108d08bf3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Tags" ma:index="17" nillable="true" ma:displayName="Tags" ma:internalName="MediaServiceAutoTags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4ba03a-1742-4881-9315-f1404d60b437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377475b-78f7-476e-bbc6-8b108d08bf3e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6E71CF9-E57E-4FA9-828E-E7A007F8FE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377475b-78f7-476e-bbc6-8b108d08bf3e"/>
    <ds:schemaRef ds:uri="524ba03a-1742-4881-9315-f1404d60b43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E782E2C-EFFA-426D-9812-E99D1292BDA3}">
  <ds:schemaRefs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purl.org/dc/dcmitype/"/>
    <ds:schemaRef ds:uri="524ba03a-1742-4881-9315-f1404d60b437"/>
    <ds:schemaRef ds:uri="http://www.w3.org/XML/1998/namespace"/>
    <ds:schemaRef ds:uri="http://schemas.openxmlformats.org/package/2006/metadata/core-properties"/>
    <ds:schemaRef ds:uri="f377475b-78f7-476e-bbc6-8b108d08bf3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2DB11383-7041-400F-A59B-979643D5B3B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1408</Words>
  <Application>Microsoft Office PowerPoint</Application>
  <PresentationFormat>Widescreen</PresentationFormat>
  <Paragraphs>256</Paragraphs>
  <Slides>31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31</vt:i4>
      </vt:variant>
    </vt:vector>
  </HeadingPairs>
  <TitlesOfParts>
    <vt:vector size="46" baseType="lpstr">
      <vt:lpstr>Arial</vt:lpstr>
      <vt:lpstr>Calibri</vt:lpstr>
      <vt:lpstr>Calibri Light</vt:lpstr>
      <vt:lpstr>Nunito</vt:lpstr>
      <vt:lpstr>Verdana</vt:lpstr>
      <vt:lpstr>Wingdings</vt:lpstr>
      <vt:lpstr>1_Custom Design</vt:lpstr>
      <vt:lpstr>2_Custom Design</vt:lpstr>
      <vt:lpstr>1_Office Theme</vt:lpstr>
      <vt:lpstr>1_Custom Design</vt:lpstr>
      <vt:lpstr>2_Custom Design</vt:lpstr>
      <vt:lpstr>Custom Design</vt:lpstr>
      <vt:lpstr>2_Office Theme</vt:lpstr>
      <vt:lpstr>Office Theme</vt:lpstr>
      <vt:lpstr>3_Office Theme</vt:lpstr>
      <vt:lpstr>PowerPoint Presentation</vt:lpstr>
      <vt:lpstr>PowerPoint Presentation</vt:lpstr>
      <vt:lpstr>PowerPoint Presentation</vt:lpstr>
      <vt:lpstr>PowerPoint Presentation</vt:lpstr>
      <vt:lpstr>Algorithm?</vt:lpstr>
      <vt:lpstr>Algorithm?</vt:lpstr>
      <vt:lpstr>Characteristics of an Algorithm</vt:lpstr>
      <vt:lpstr>Pseudocode: Bridging Algorithm and Program</vt:lpstr>
      <vt:lpstr>Algorithm vs Pseudocode </vt:lpstr>
      <vt:lpstr>Simple Example</vt:lpstr>
      <vt:lpstr>Simple Example</vt:lpstr>
      <vt:lpstr>Program: Implementation of an Algorithm</vt:lpstr>
      <vt:lpstr>Program Example (Addition of two numbers)</vt:lpstr>
      <vt:lpstr>Algorithm vs Program (Common Confusion)”</vt:lpstr>
      <vt:lpstr>Think–Pause  </vt:lpstr>
      <vt:lpstr>Properties of Algorithm</vt:lpstr>
      <vt:lpstr>Think–Pause</vt:lpstr>
      <vt:lpstr>Properties of Algorithm</vt:lpstr>
      <vt:lpstr>Think–Pause</vt:lpstr>
      <vt:lpstr>Properties of Algorithm</vt:lpstr>
      <vt:lpstr>Properties of Algorithm</vt:lpstr>
      <vt:lpstr>Properties of Algorithm</vt:lpstr>
      <vt:lpstr>Properties of Algorithm</vt:lpstr>
      <vt:lpstr>Properties of Algorithm</vt:lpstr>
      <vt:lpstr>Test Your Knowledge</vt:lpstr>
      <vt:lpstr>Test Your Knowledge</vt:lpstr>
      <vt:lpstr>Test Your Knowledge</vt:lpstr>
      <vt:lpstr>Session 1 Summary: Foundations of Algorithms</vt:lpstr>
      <vt:lpstr>References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Tanu Gupta</dc:creator>
  <cp:lastModifiedBy>Vandna Bajaj</cp:lastModifiedBy>
  <cp:revision>31</cp:revision>
  <dcterms:created xsi:type="dcterms:W3CDTF">2024-06-18T08:55:18Z</dcterms:created>
  <dcterms:modified xsi:type="dcterms:W3CDTF">2026-01-11T16:55:18Z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0x010100B806ED0382BA6B4D9E5A4E0EF86C37D0</vt:lpwstr>
  </property>
</Properties>
</file>